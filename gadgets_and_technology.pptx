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Today I am going to talk about the most useful and modern gadgets and technologies that surround us in everyday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Technology plays a huge role in modern life. It makes us more efficient, keeps us connected, and improves our quality of life. Just look at these numbers — billions of devices are part of our daily routine.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smartphone is probably the most important gadget of the twenty-first century. Modern smartphones use AI-powered cameras, 5G connectivity, and biometric security. Foldable phones are also becoming very popular.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Wearable technology includes smartwatches, fitness trackers, and wireless earbuds. These small devices monitor our health, keep us connected, and even help us navigate outdoors using GPS.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 home technology connects everyday devices to the internet. Smart speakers, lighting, security cameras, and thermostats all work together to make homes safer, more comfortable, and more energy-efficient.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Artificial intelligence assistants have become part of daily life. Voice assistants like Siri and Alexa help with simple tasks, while conversational AI tools like ChatGPT support studying, writing, and everyday problem-solving.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Transport technology is changing fast. Electric cars produce no direct emissions, and autopilot systems use sensors and cameras to make driving safer and more convenient.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Virtual and augmented reality are opening new possibilities in gaming, education, retail, and remote work. VR creates fully digital worlds, while AR adds digital layers on top of the real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modern gadgets and technologies are transforming everyday life, from communication to health, transport, and entertainment. Thank you for listening — I am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9692640" y="548640"/>
            <a:ext cx="109728" cy="109728"/>
          </a:xfrm>
          <a:prstGeom prst="ellipse">
            <a:avLst/>
          </a:prstGeom>
          <a:solidFill>
            <a:srgbClr val="1E3A5F"/>
          </a:solidFill>
          <a:ln/>
        </p:spPr>
      </p:sp>
      <p:sp>
        <p:nvSpPr>
          <p:cNvPr id="3" name="Shape 1"/>
          <p:cNvSpPr/>
          <p:nvPr/>
        </p:nvSpPr>
        <p:spPr>
          <a:xfrm>
            <a:off x="10515600" y="548640"/>
            <a:ext cx="109728" cy="109728"/>
          </a:xfrm>
          <a:prstGeom prst="ellipse">
            <a:avLst/>
          </a:prstGeom>
          <a:solidFill>
            <a:srgbClr val="1E3A5F"/>
          </a:solidFill>
          <a:ln/>
        </p:spPr>
      </p:sp>
      <p:sp>
        <p:nvSpPr>
          <p:cNvPr id="4" name="Shape 2"/>
          <p:cNvSpPr/>
          <p:nvPr/>
        </p:nvSpPr>
        <p:spPr>
          <a:xfrm>
            <a:off x="11338560" y="548640"/>
            <a:ext cx="109728" cy="109728"/>
          </a:xfrm>
          <a:prstGeom prst="ellipse">
            <a:avLst/>
          </a:prstGeom>
          <a:solidFill>
            <a:srgbClr val="1E3A5F"/>
          </a:solidFill>
          <a:ln/>
        </p:spPr>
      </p:sp>
      <p:sp>
        <p:nvSpPr>
          <p:cNvPr id="5" name="Shape 3"/>
          <p:cNvSpPr/>
          <p:nvPr/>
        </p:nvSpPr>
        <p:spPr>
          <a:xfrm>
            <a:off x="9692640" y="1371600"/>
            <a:ext cx="109728" cy="109728"/>
          </a:xfrm>
          <a:prstGeom prst="ellipse">
            <a:avLst/>
          </a:prstGeom>
          <a:solidFill>
            <a:srgbClr val="1E3A5F"/>
          </a:solidFill>
          <a:ln/>
        </p:spPr>
      </p:sp>
      <p:sp>
        <p:nvSpPr>
          <p:cNvPr id="6" name="Shape 4"/>
          <p:cNvSpPr/>
          <p:nvPr/>
        </p:nvSpPr>
        <p:spPr>
          <a:xfrm>
            <a:off x="10515600" y="1371600"/>
            <a:ext cx="109728" cy="109728"/>
          </a:xfrm>
          <a:prstGeom prst="ellipse">
            <a:avLst/>
          </a:prstGeom>
          <a:solidFill>
            <a:srgbClr val="1E3A5F"/>
          </a:solidFill>
          <a:ln/>
        </p:spPr>
      </p:sp>
      <p:sp>
        <p:nvSpPr>
          <p:cNvPr id="7" name="Shape 5"/>
          <p:cNvSpPr/>
          <p:nvPr/>
        </p:nvSpPr>
        <p:spPr>
          <a:xfrm>
            <a:off x="11338560" y="1371600"/>
            <a:ext cx="109728" cy="109728"/>
          </a:xfrm>
          <a:prstGeom prst="ellipse">
            <a:avLst/>
          </a:prstGeom>
          <a:solidFill>
            <a:srgbClr val="1E3A5F"/>
          </a:solidFill>
          <a:ln/>
        </p:spPr>
      </p:sp>
      <p:sp>
        <p:nvSpPr>
          <p:cNvPr id="8" name="Text 6"/>
          <p:cNvSpPr/>
          <p:nvPr/>
        </p:nvSpPr>
        <p:spPr>
          <a:xfrm>
            <a:off x="822960" y="1417320"/>
            <a:ext cx="7315200" cy="365760"/>
          </a:xfrm>
          <a:prstGeom prst="rect">
            <a:avLst/>
          </a:prstGeom>
          <a:noFill/>
          <a:ln/>
        </p:spPr>
        <p:txBody>
          <a:bodyPr wrap="square" rtlCol="0" anchor="ctr"/>
          <a:lstStyle/>
          <a:p>
            <a:pPr indent="0" marL="0">
              <a:buNone/>
            </a:pPr>
            <a:r>
              <a:rPr lang="en-US" sz="1400" b="1" spc="300" kern="0" dirty="0">
                <a:solidFill>
                  <a:srgbClr val="00E5FF"/>
                </a:solidFill>
                <a:latin typeface="Calibri" pitchFamily="34" charset="0"/>
                <a:ea typeface="Calibri" pitchFamily="34" charset="-122"/>
                <a:cs typeface="Calibri" pitchFamily="34" charset="-120"/>
              </a:rPr>
              <a:t>ENGLISH LANGUAGE PRESENTATION</a:t>
            </a:r>
            <a:endParaRPr lang="en-US" sz="1400" dirty="0"/>
          </a:p>
        </p:txBody>
      </p:sp>
      <p:sp>
        <p:nvSpPr>
          <p:cNvPr id="9" name="Text 7"/>
          <p:cNvSpPr/>
          <p:nvPr/>
        </p:nvSpPr>
        <p:spPr>
          <a:xfrm>
            <a:off x="777240" y="1874520"/>
            <a:ext cx="9601200" cy="1920240"/>
          </a:xfrm>
          <a:prstGeom prst="rect">
            <a:avLst/>
          </a:prstGeom>
          <a:noFill/>
          <a:ln/>
        </p:spPr>
        <p:txBody>
          <a:bodyPr wrap="square" rtlCol="0" anchor="ctr"/>
          <a:lstStyle/>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The Most Useful &amp; Modern</a:t>
            </a:r>
            <a:endParaRPr lang="en-US" sz="4400" dirty="0"/>
          </a:p>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Gadgets and Technologies</a:t>
            </a:r>
            <a:endParaRPr lang="en-US" sz="4400" dirty="0"/>
          </a:p>
        </p:txBody>
      </p:sp>
      <p:sp>
        <p:nvSpPr>
          <p:cNvPr id="10" name="Text 8"/>
          <p:cNvSpPr/>
          <p:nvPr/>
        </p:nvSpPr>
        <p:spPr>
          <a:xfrm>
            <a:off x="822960" y="3794760"/>
            <a:ext cx="8686800" cy="548640"/>
          </a:xfrm>
          <a:prstGeom prst="rect">
            <a:avLst/>
          </a:prstGeom>
          <a:noFill/>
          <a:ln/>
        </p:spPr>
        <p:txBody>
          <a:bodyPr wrap="square"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How innovation is reshaping the way we live, work, and connect</a:t>
            </a:r>
            <a:endParaRPr lang="en-US" sz="1800" dirty="0"/>
          </a:p>
        </p:txBody>
      </p:sp>
      <p:sp>
        <p:nvSpPr>
          <p:cNvPr id="11" name="Shape 9"/>
          <p:cNvSpPr/>
          <p:nvPr/>
        </p:nvSpPr>
        <p:spPr>
          <a:xfrm>
            <a:off x="822960" y="4892040"/>
            <a:ext cx="640080" cy="640080"/>
          </a:xfrm>
          <a:prstGeom prst="ellipse">
            <a:avLst/>
          </a:prstGeom>
          <a:solidFill>
            <a:srgbClr val="1E3A5F"/>
          </a:solidFill>
          <a:ln/>
        </p:spPr>
      </p:sp>
      <p:pic>
        <p:nvPicPr>
          <p:cNvPr id="12" name="Image 0" descr="/home/claude/pptx_work/icon_mobile_00E5FF.png">    </p:cNvPr>
          <p:cNvPicPr>
            <a:picLocks noChangeAspect="1"/>
          </p:cNvPicPr>
          <p:nvPr/>
        </p:nvPicPr>
        <p:blipFill>
          <a:blip r:embed="rId1"/>
          <a:stretch>
            <a:fillRect/>
          </a:stretch>
        </p:blipFill>
        <p:spPr>
          <a:xfrm>
            <a:off x="960120" y="5029200"/>
            <a:ext cx="365760" cy="365760"/>
          </a:xfrm>
          <a:prstGeom prst="rect">
            <a:avLst/>
          </a:prstGeom>
        </p:spPr>
      </p:pic>
      <p:sp>
        <p:nvSpPr>
          <p:cNvPr id="13" name="Shape 10"/>
          <p:cNvSpPr/>
          <p:nvPr/>
        </p:nvSpPr>
        <p:spPr>
          <a:xfrm>
            <a:off x="2057400" y="4892040"/>
            <a:ext cx="640080" cy="640080"/>
          </a:xfrm>
          <a:prstGeom prst="ellipse">
            <a:avLst/>
          </a:prstGeom>
          <a:solidFill>
            <a:srgbClr val="1E3A5F"/>
          </a:solidFill>
          <a:ln/>
        </p:spPr>
      </p:sp>
      <p:pic>
        <p:nvPicPr>
          <p:cNvPr id="14" name="Image 1" descr="/home/claude/pptx_work/icon_clock_00E5FF.png">    </p:cNvPr>
          <p:cNvPicPr>
            <a:picLocks noChangeAspect="1"/>
          </p:cNvPicPr>
          <p:nvPr/>
        </p:nvPicPr>
        <p:blipFill>
          <a:blip r:embed="rId2"/>
          <a:stretch>
            <a:fillRect/>
          </a:stretch>
        </p:blipFill>
        <p:spPr>
          <a:xfrm>
            <a:off x="2194560" y="5029200"/>
            <a:ext cx="365760" cy="365760"/>
          </a:xfrm>
          <a:prstGeom prst="rect">
            <a:avLst/>
          </a:prstGeom>
        </p:spPr>
      </p:pic>
      <p:sp>
        <p:nvSpPr>
          <p:cNvPr id="15" name="Shape 11"/>
          <p:cNvSpPr/>
          <p:nvPr/>
        </p:nvSpPr>
        <p:spPr>
          <a:xfrm>
            <a:off x="3291840" y="4892040"/>
            <a:ext cx="640080" cy="640080"/>
          </a:xfrm>
          <a:prstGeom prst="ellipse">
            <a:avLst/>
          </a:prstGeom>
          <a:solidFill>
            <a:srgbClr val="1E3A5F"/>
          </a:solidFill>
          <a:ln/>
        </p:spPr>
      </p:sp>
      <p:pic>
        <p:nvPicPr>
          <p:cNvPr id="16" name="Image 2" descr="/home/claude/pptx_work/icon_home_00E5FF.png">    </p:cNvPr>
          <p:cNvPicPr>
            <a:picLocks noChangeAspect="1"/>
          </p:cNvPicPr>
          <p:nvPr/>
        </p:nvPicPr>
        <p:blipFill>
          <a:blip r:embed="rId3"/>
          <a:stretch>
            <a:fillRect/>
          </a:stretch>
        </p:blipFill>
        <p:spPr>
          <a:xfrm>
            <a:off x="3429000" y="5029200"/>
            <a:ext cx="365760" cy="365760"/>
          </a:xfrm>
          <a:prstGeom prst="rect">
            <a:avLst/>
          </a:prstGeom>
        </p:spPr>
      </p:pic>
      <p:sp>
        <p:nvSpPr>
          <p:cNvPr id="17" name="Shape 12"/>
          <p:cNvSpPr/>
          <p:nvPr/>
        </p:nvSpPr>
        <p:spPr>
          <a:xfrm>
            <a:off x="4526280" y="4892040"/>
            <a:ext cx="640080" cy="640080"/>
          </a:xfrm>
          <a:prstGeom prst="ellipse">
            <a:avLst/>
          </a:prstGeom>
          <a:solidFill>
            <a:srgbClr val="1E3A5F"/>
          </a:solidFill>
          <a:ln/>
        </p:spPr>
      </p:sp>
      <p:pic>
        <p:nvPicPr>
          <p:cNvPr id="18" name="Image 3" descr="/home/claude/pptx_work/icon_robot_00E5FF.png">    </p:cNvPr>
          <p:cNvPicPr>
            <a:picLocks noChangeAspect="1"/>
          </p:cNvPicPr>
          <p:nvPr/>
        </p:nvPicPr>
        <p:blipFill>
          <a:blip r:embed="rId4"/>
          <a:stretch>
            <a:fillRect/>
          </a:stretch>
        </p:blipFill>
        <p:spPr>
          <a:xfrm>
            <a:off x="4663440" y="5029200"/>
            <a:ext cx="365760" cy="365760"/>
          </a:xfrm>
          <a:prstGeom prst="rect">
            <a:avLst/>
          </a:prstGeom>
        </p:spPr>
      </p:pic>
      <p:sp>
        <p:nvSpPr>
          <p:cNvPr id="19" name="Shape 13"/>
          <p:cNvSpPr/>
          <p:nvPr/>
        </p:nvSpPr>
        <p:spPr>
          <a:xfrm>
            <a:off x="5760720" y="4892040"/>
            <a:ext cx="640080" cy="640080"/>
          </a:xfrm>
          <a:prstGeom prst="ellipse">
            <a:avLst/>
          </a:prstGeom>
          <a:solidFill>
            <a:srgbClr val="1E3A5F"/>
          </a:solidFill>
          <a:ln/>
        </p:spPr>
      </p:sp>
      <p:pic>
        <p:nvPicPr>
          <p:cNvPr id="20" name="Image 4" descr="/home/claude/pptx_work/icon_car_00E5FF.png">    </p:cNvPr>
          <p:cNvPicPr>
            <a:picLocks noChangeAspect="1"/>
          </p:cNvPicPr>
          <p:nvPr/>
        </p:nvPicPr>
        <p:blipFill>
          <a:blip r:embed="rId5"/>
          <a:stretch>
            <a:fillRect/>
          </a:stretch>
        </p:blipFill>
        <p:spPr>
          <a:xfrm>
            <a:off x="5897880" y="5029200"/>
            <a:ext cx="365760" cy="365760"/>
          </a:xfrm>
          <a:prstGeom prst="rect">
            <a:avLst/>
          </a:prstGeom>
        </p:spPr>
      </p:pic>
      <p:sp>
        <p:nvSpPr>
          <p:cNvPr id="21" name="Shape 14"/>
          <p:cNvSpPr/>
          <p:nvPr/>
        </p:nvSpPr>
        <p:spPr>
          <a:xfrm>
            <a:off x="6995160" y="4892040"/>
            <a:ext cx="640080" cy="640080"/>
          </a:xfrm>
          <a:prstGeom prst="ellipse">
            <a:avLst/>
          </a:prstGeom>
          <a:solidFill>
            <a:srgbClr val="1E3A5F"/>
          </a:solidFill>
          <a:ln/>
        </p:spPr>
      </p:sp>
      <p:pic>
        <p:nvPicPr>
          <p:cNvPr id="22" name="Image 5" descr="/home/claude/pptx_work/icon_vr_00E5FF.png">    </p:cNvPr>
          <p:cNvPicPr>
            <a:picLocks noChangeAspect="1"/>
          </p:cNvPicPr>
          <p:nvPr/>
        </p:nvPicPr>
        <p:blipFill>
          <a:blip r:embed="rId6"/>
          <a:stretch>
            <a:fillRect/>
          </a:stretch>
        </p:blipFill>
        <p:spPr>
          <a:xfrm>
            <a:off x="7132320" y="5029200"/>
            <a:ext cx="365760" cy="365760"/>
          </a:xfrm>
          <a:prstGeom prst="rect">
            <a:avLst/>
          </a:prstGeom>
        </p:spPr>
      </p:pic>
      <p:sp>
        <p:nvSpPr>
          <p:cNvPr id="23" name="Shape 15"/>
          <p:cNvSpPr/>
          <p:nvPr/>
        </p:nvSpPr>
        <p:spPr>
          <a:xfrm>
            <a:off x="822960" y="5989320"/>
            <a:ext cx="5486400" cy="0"/>
          </a:xfrm>
          <a:prstGeom prst="line">
            <a:avLst/>
          </a:prstGeom>
          <a:noFill/>
          <a:ln w="12700">
            <a:solidFill>
              <a:srgbClr val="1E3A5F"/>
            </a:solidFill>
            <a:prstDash val="solid"/>
          </a:ln>
        </p:spPr>
      </p:sp>
      <p:sp>
        <p:nvSpPr>
          <p:cNvPr id="24" name="Text 16"/>
          <p:cNvSpPr/>
          <p:nvPr/>
        </p:nvSpPr>
        <p:spPr>
          <a:xfrm>
            <a:off x="822960" y="6108192"/>
            <a:ext cx="10058400" cy="365760"/>
          </a:xfrm>
          <a:prstGeom prst="rect">
            <a:avLst/>
          </a:prstGeom>
          <a:noFill/>
          <a:ln/>
        </p:spPr>
        <p:txBody>
          <a:bodyPr wrap="square" rtlCol="0" anchor="ctr"/>
          <a:lstStyle/>
          <a:p>
            <a:pPr indent="0" marL="0">
              <a:buNone/>
            </a:pPr>
            <a:r>
              <a:rPr lang="en-US" sz="1200" dirty="0">
                <a:solidFill>
                  <a:srgbClr val="A9B7C6"/>
                </a:solidFill>
                <a:latin typeface="Calibri" pitchFamily="34" charset="0"/>
                <a:ea typeface="Calibri" pitchFamily="34" charset="-122"/>
                <a:cs typeface="Calibri" pitchFamily="34" charset="-120"/>
              </a:rPr>
              <a:t>Presentation overview: smartphones · wearables · smart homes · AI · transport · VR/AR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6473952"/>
            <a:ext cx="3657600" cy="274320"/>
          </a:xfrm>
          <a:prstGeom prst="rect">
            <a:avLst/>
          </a:prstGeom>
          <a:noFill/>
          <a:ln/>
        </p:spPr>
        <p:txBody>
          <a:bodyPr wrap="square" rtlCol="0" anchor="ctr"/>
          <a:lstStyle/>
          <a:p>
            <a:pPr indent="0" marL="0">
              <a:buNone/>
            </a:pPr>
            <a:r>
              <a:rPr lang="en-US" sz="1000" spc="200" kern="0" dirty="0">
                <a:solidFill>
                  <a:srgbClr val="5B6B7C"/>
                </a:solidFill>
                <a:latin typeface="Calibri" pitchFamily="34" charset="0"/>
                <a:ea typeface="Calibri" pitchFamily="34" charset="-122"/>
                <a:cs typeface="Calibri" pitchFamily="34" charset="-120"/>
              </a:rPr>
              <a:t>GADGETS &amp; TECHNOLOGY</a:t>
            </a:r>
            <a:endParaRPr lang="en-US" sz="1000" dirty="0"/>
          </a:p>
        </p:txBody>
      </p:sp>
      <p:sp>
        <p:nvSpPr>
          <p:cNvPr id="3" name="Text 1"/>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02</a:t>
            </a:r>
            <a:endParaRPr lang="en-US" sz="1000" dirty="0"/>
          </a:p>
        </p:txBody>
      </p:sp>
      <p:sp>
        <p:nvSpPr>
          <p:cNvPr id="4" name="Text 2"/>
          <p:cNvSpPr/>
          <p:nvPr/>
        </p:nvSpPr>
        <p:spPr>
          <a:xfrm>
            <a:off x="548640" y="457200"/>
            <a:ext cx="5486400" cy="457200"/>
          </a:xfrm>
          <a:prstGeom prst="rect">
            <a:avLst/>
          </a:prstGeom>
          <a:noFill/>
          <a:ln/>
        </p:spPr>
        <p:txBody>
          <a:bodyPr wrap="square" rtlCol="0" anchor="ctr"/>
          <a:lstStyle/>
          <a:p>
            <a:pPr indent="0" marL="0">
              <a:buNone/>
            </a:pPr>
            <a:r>
              <a:rPr lang="en-US" sz="3000" b="1" dirty="0">
                <a:solidFill>
                  <a:srgbClr val="13202E"/>
                </a:solidFill>
                <a:latin typeface="Cambria" pitchFamily="34" charset="0"/>
                <a:ea typeface="Cambria" pitchFamily="34" charset="-122"/>
                <a:cs typeface="Cambria" pitchFamily="34" charset="-120"/>
              </a:rPr>
              <a:t>Introduction</a:t>
            </a:r>
            <a:endParaRPr lang="en-US" sz="3000" dirty="0"/>
          </a:p>
        </p:txBody>
      </p:sp>
      <p:sp>
        <p:nvSpPr>
          <p:cNvPr id="5" name="Text 3"/>
          <p:cNvSpPr/>
          <p:nvPr/>
        </p:nvSpPr>
        <p:spPr>
          <a:xfrm>
            <a:off x="548640" y="932688"/>
            <a:ext cx="7315200" cy="365760"/>
          </a:xfrm>
          <a:prstGeom prst="rect">
            <a:avLst/>
          </a:prstGeom>
          <a:noFill/>
          <a:ln/>
        </p:spPr>
        <p:txBody>
          <a:bodyPr wrap="square" rtlCol="0" anchor="ctr"/>
          <a:lstStyle/>
          <a:p>
            <a:pPr indent="0" marL="0">
              <a:buNone/>
            </a:pPr>
            <a:r>
              <a:rPr lang="en-US" sz="1600" i="1" dirty="0">
                <a:solidFill>
                  <a:srgbClr val="5B6B7C"/>
                </a:solidFill>
                <a:latin typeface="Calibri" pitchFamily="34" charset="0"/>
                <a:ea typeface="Calibri" pitchFamily="34" charset="-122"/>
                <a:cs typeface="Calibri" pitchFamily="34" charset="-120"/>
              </a:rPr>
              <a:t>Why technology matters today</a:t>
            </a:r>
            <a:endParaRPr lang="en-US" sz="1600" dirty="0"/>
          </a:p>
        </p:txBody>
      </p:sp>
      <p:sp>
        <p:nvSpPr>
          <p:cNvPr id="6" name="Shape 4"/>
          <p:cNvSpPr/>
          <p:nvPr/>
        </p:nvSpPr>
        <p:spPr>
          <a:xfrm>
            <a:off x="548640" y="1874520"/>
            <a:ext cx="566928" cy="566928"/>
          </a:xfrm>
          <a:prstGeom prst="ellipse">
            <a:avLst/>
          </a:prstGeom>
          <a:solidFill>
            <a:srgbClr val="0F172A"/>
          </a:solidFill>
          <a:ln/>
        </p:spPr>
      </p:sp>
      <p:pic>
        <p:nvPicPr>
          <p:cNvPr id="7" name="Image 0" descr="/home/claude/pptx_work/icon_bolt_00E5FF.png">    </p:cNvPr>
          <p:cNvPicPr>
            <a:picLocks noChangeAspect="1"/>
          </p:cNvPicPr>
          <p:nvPr/>
        </p:nvPicPr>
        <p:blipFill>
          <a:blip r:embed="rId1"/>
          <a:stretch>
            <a:fillRect/>
          </a:stretch>
        </p:blipFill>
        <p:spPr>
          <a:xfrm>
            <a:off x="685800" y="2011680"/>
            <a:ext cx="292608" cy="292608"/>
          </a:xfrm>
          <a:prstGeom prst="rect">
            <a:avLst/>
          </a:prstGeom>
        </p:spPr>
      </p:pic>
      <p:sp>
        <p:nvSpPr>
          <p:cNvPr id="8" name="Text 5"/>
          <p:cNvSpPr/>
          <p:nvPr/>
        </p:nvSpPr>
        <p:spPr>
          <a:xfrm>
            <a:off x="1325880" y="1837944"/>
            <a:ext cx="4114800" cy="320040"/>
          </a:xfrm>
          <a:prstGeom prst="rect">
            <a:avLst/>
          </a:prstGeom>
          <a:noFill/>
          <a:ln/>
        </p:spPr>
        <p:txBody>
          <a:bodyPr wrap="square" rtlCol="0" anchor="ctr"/>
          <a:lstStyle/>
          <a:p>
            <a:pPr indent="0" marL="0">
              <a:buNone/>
            </a:pPr>
            <a:r>
              <a:rPr lang="en-US" sz="1700" b="1" dirty="0">
                <a:solidFill>
                  <a:srgbClr val="13202E"/>
                </a:solidFill>
                <a:latin typeface="Calibri" pitchFamily="34" charset="0"/>
                <a:ea typeface="Calibri" pitchFamily="34" charset="-122"/>
                <a:cs typeface="Calibri" pitchFamily="34" charset="-120"/>
              </a:rPr>
              <a:t>Efficiency</a:t>
            </a:r>
            <a:endParaRPr lang="en-US" sz="1700" dirty="0"/>
          </a:p>
        </p:txBody>
      </p:sp>
      <p:sp>
        <p:nvSpPr>
          <p:cNvPr id="9" name="Text 6"/>
          <p:cNvSpPr/>
          <p:nvPr/>
        </p:nvSpPr>
        <p:spPr>
          <a:xfrm>
            <a:off x="1325880" y="2167128"/>
            <a:ext cx="4480560" cy="502920"/>
          </a:xfrm>
          <a:prstGeom prst="rect">
            <a:avLst/>
          </a:prstGeom>
          <a:noFill/>
          <a:ln/>
        </p:spPr>
        <p:txBody>
          <a:bodyPr wrap="square" rtlCol="0" anchor="ctr"/>
          <a:lstStyle/>
          <a:p>
            <a:pPr indent="0" marL="0">
              <a:lnSpc>
                <a:spcPts val="1600"/>
              </a:lnSpc>
              <a:buNone/>
            </a:pPr>
            <a:r>
              <a:rPr lang="en-US" sz="1250" dirty="0">
                <a:solidFill>
                  <a:srgbClr val="5B6B7C"/>
                </a:solidFill>
                <a:latin typeface="Calibri" pitchFamily="34" charset="0"/>
                <a:ea typeface="Calibri" pitchFamily="34" charset="-122"/>
                <a:cs typeface="Calibri" pitchFamily="34" charset="-120"/>
              </a:rPr>
              <a:t>New devices help us complete everyday tasks faster and with less effort.</a:t>
            </a:r>
            <a:endParaRPr lang="en-US" sz="1250" dirty="0"/>
          </a:p>
        </p:txBody>
      </p:sp>
      <p:sp>
        <p:nvSpPr>
          <p:cNvPr id="10" name="Shape 7"/>
          <p:cNvSpPr/>
          <p:nvPr/>
        </p:nvSpPr>
        <p:spPr>
          <a:xfrm>
            <a:off x="548640" y="3291840"/>
            <a:ext cx="566928" cy="566928"/>
          </a:xfrm>
          <a:prstGeom prst="ellipse">
            <a:avLst/>
          </a:prstGeom>
          <a:solidFill>
            <a:srgbClr val="0F172A"/>
          </a:solidFill>
          <a:ln/>
        </p:spPr>
      </p:sp>
      <p:pic>
        <p:nvPicPr>
          <p:cNvPr id="11" name="Image 1" descr="/home/claude/pptx_work/icon_wifi_00E5FF.png">    </p:cNvPr>
          <p:cNvPicPr>
            <a:picLocks noChangeAspect="1"/>
          </p:cNvPicPr>
          <p:nvPr/>
        </p:nvPicPr>
        <p:blipFill>
          <a:blip r:embed="rId2"/>
          <a:stretch>
            <a:fillRect/>
          </a:stretch>
        </p:blipFill>
        <p:spPr>
          <a:xfrm>
            <a:off x="685800" y="3429000"/>
            <a:ext cx="292608" cy="292608"/>
          </a:xfrm>
          <a:prstGeom prst="rect">
            <a:avLst/>
          </a:prstGeom>
        </p:spPr>
      </p:pic>
      <p:sp>
        <p:nvSpPr>
          <p:cNvPr id="12" name="Text 8"/>
          <p:cNvSpPr/>
          <p:nvPr/>
        </p:nvSpPr>
        <p:spPr>
          <a:xfrm>
            <a:off x="1325880" y="3255264"/>
            <a:ext cx="4114800" cy="320040"/>
          </a:xfrm>
          <a:prstGeom prst="rect">
            <a:avLst/>
          </a:prstGeom>
          <a:noFill/>
          <a:ln/>
        </p:spPr>
        <p:txBody>
          <a:bodyPr wrap="square" rtlCol="0" anchor="ctr"/>
          <a:lstStyle/>
          <a:p>
            <a:pPr indent="0" marL="0">
              <a:buNone/>
            </a:pPr>
            <a:r>
              <a:rPr lang="en-US" sz="1700" b="1" dirty="0">
                <a:solidFill>
                  <a:srgbClr val="13202E"/>
                </a:solidFill>
                <a:latin typeface="Calibri" pitchFamily="34" charset="0"/>
                <a:ea typeface="Calibri" pitchFamily="34" charset="-122"/>
                <a:cs typeface="Calibri" pitchFamily="34" charset="-120"/>
              </a:rPr>
              <a:t>Connectivity</a:t>
            </a:r>
            <a:endParaRPr lang="en-US" sz="1700" dirty="0"/>
          </a:p>
        </p:txBody>
      </p:sp>
      <p:sp>
        <p:nvSpPr>
          <p:cNvPr id="13" name="Text 9"/>
          <p:cNvSpPr/>
          <p:nvPr/>
        </p:nvSpPr>
        <p:spPr>
          <a:xfrm>
            <a:off x="1325880" y="3584448"/>
            <a:ext cx="4480560" cy="502920"/>
          </a:xfrm>
          <a:prstGeom prst="rect">
            <a:avLst/>
          </a:prstGeom>
          <a:noFill/>
          <a:ln/>
        </p:spPr>
        <p:txBody>
          <a:bodyPr wrap="square" rtlCol="0" anchor="ctr"/>
          <a:lstStyle/>
          <a:p>
            <a:pPr indent="0" marL="0">
              <a:lnSpc>
                <a:spcPts val="1600"/>
              </a:lnSpc>
              <a:buNone/>
            </a:pPr>
            <a:r>
              <a:rPr lang="en-US" sz="1250" dirty="0">
                <a:solidFill>
                  <a:srgbClr val="5B6B7C"/>
                </a:solidFill>
                <a:latin typeface="Calibri" pitchFamily="34" charset="0"/>
                <a:ea typeface="Calibri" pitchFamily="34" charset="-122"/>
                <a:cs typeface="Calibri" pitchFamily="34" charset="-120"/>
              </a:rPr>
              <a:t>Technology keeps people connected across cities and countries in real time.</a:t>
            </a:r>
            <a:endParaRPr lang="en-US" sz="1250" dirty="0"/>
          </a:p>
        </p:txBody>
      </p:sp>
      <p:sp>
        <p:nvSpPr>
          <p:cNvPr id="14" name="Shape 10"/>
          <p:cNvSpPr/>
          <p:nvPr/>
        </p:nvSpPr>
        <p:spPr>
          <a:xfrm>
            <a:off x="548640" y="4709160"/>
            <a:ext cx="566928" cy="566928"/>
          </a:xfrm>
          <a:prstGeom prst="ellipse">
            <a:avLst/>
          </a:prstGeom>
          <a:solidFill>
            <a:srgbClr val="0F172A"/>
          </a:solidFill>
          <a:ln/>
        </p:spPr>
      </p:sp>
      <p:pic>
        <p:nvPicPr>
          <p:cNvPr id="15" name="Image 2" descr="/home/claude/pptx_work/icon_heart_00E5FF.png">    </p:cNvPr>
          <p:cNvPicPr>
            <a:picLocks noChangeAspect="1"/>
          </p:cNvPicPr>
          <p:nvPr/>
        </p:nvPicPr>
        <p:blipFill>
          <a:blip r:embed="rId3"/>
          <a:stretch>
            <a:fillRect/>
          </a:stretch>
        </p:blipFill>
        <p:spPr>
          <a:xfrm>
            <a:off x="685800" y="4846320"/>
            <a:ext cx="292608" cy="292608"/>
          </a:xfrm>
          <a:prstGeom prst="rect">
            <a:avLst/>
          </a:prstGeom>
        </p:spPr>
      </p:pic>
      <p:sp>
        <p:nvSpPr>
          <p:cNvPr id="16" name="Text 11"/>
          <p:cNvSpPr/>
          <p:nvPr/>
        </p:nvSpPr>
        <p:spPr>
          <a:xfrm>
            <a:off x="1325880" y="4672584"/>
            <a:ext cx="4114800" cy="320040"/>
          </a:xfrm>
          <a:prstGeom prst="rect">
            <a:avLst/>
          </a:prstGeom>
          <a:noFill/>
          <a:ln/>
        </p:spPr>
        <p:txBody>
          <a:bodyPr wrap="square" rtlCol="0" anchor="ctr"/>
          <a:lstStyle/>
          <a:p>
            <a:pPr indent="0" marL="0">
              <a:buNone/>
            </a:pPr>
            <a:r>
              <a:rPr lang="en-US" sz="1700" b="1" dirty="0">
                <a:solidFill>
                  <a:srgbClr val="13202E"/>
                </a:solidFill>
                <a:latin typeface="Calibri" pitchFamily="34" charset="0"/>
                <a:ea typeface="Calibri" pitchFamily="34" charset="-122"/>
                <a:cs typeface="Calibri" pitchFamily="34" charset="-120"/>
              </a:rPr>
              <a:t>Quality of life</a:t>
            </a:r>
            <a:endParaRPr lang="en-US" sz="1700" dirty="0"/>
          </a:p>
        </p:txBody>
      </p:sp>
      <p:sp>
        <p:nvSpPr>
          <p:cNvPr id="17" name="Text 12"/>
          <p:cNvSpPr/>
          <p:nvPr/>
        </p:nvSpPr>
        <p:spPr>
          <a:xfrm>
            <a:off x="1325880" y="5001768"/>
            <a:ext cx="4480560" cy="502920"/>
          </a:xfrm>
          <a:prstGeom prst="rect">
            <a:avLst/>
          </a:prstGeom>
          <a:noFill/>
          <a:ln/>
        </p:spPr>
        <p:txBody>
          <a:bodyPr wrap="square" rtlCol="0" anchor="ctr"/>
          <a:lstStyle/>
          <a:p>
            <a:pPr indent="0" marL="0">
              <a:lnSpc>
                <a:spcPts val="1600"/>
              </a:lnSpc>
              <a:buNone/>
            </a:pPr>
            <a:r>
              <a:rPr lang="en-US" sz="1250" dirty="0">
                <a:solidFill>
                  <a:srgbClr val="5B6B7C"/>
                </a:solidFill>
                <a:latin typeface="Calibri" pitchFamily="34" charset="0"/>
                <a:ea typeface="Calibri" pitchFamily="34" charset="-122"/>
                <a:cs typeface="Calibri" pitchFamily="34" charset="-120"/>
              </a:rPr>
              <a:t>Smart gadgets support health, safety, and comfort in our daily routines.</a:t>
            </a:r>
            <a:endParaRPr lang="en-US" sz="1250" dirty="0"/>
          </a:p>
        </p:txBody>
      </p:sp>
      <p:sp>
        <p:nvSpPr>
          <p:cNvPr id="18" name="Shape 13"/>
          <p:cNvSpPr/>
          <p:nvPr/>
        </p:nvSpPr>
        <p:spPr>
          <a:xfrm>
            <a:off x="6446520" y="1600200"/>
            <a:ext cx="5166360" cy="4297680"/>
          </a:xfrm>
          <a:prstGeom prst="roundRect">
            <a:avLst>
              <a:gd name="adj" fmla="val 2553"/>
            </a:avLst>
          </a:prstGeom>
          <a:solidFill>
            <a:srgbClr val="0F172A"/>
          </a:solidFill>
          <a:ln/>
        </p:spPr>
      </p:sp>
      <p:sp>
        <p:nvSpPr>
          <p:cNvPr id="19" name="Text 14"/>
          <p:cNvSpPr/>
          <p:nvPr/>
        </p:nvSpPr>
        <p:spPr>
          <a:xfrm>
            <a:off x="6766560" y="1965960"/>
            <a:ext cx="4572000" cy="914400"/>
          </a:xfrm>
          <a:prstGeom prst="rect">
            <a:avLst/>
          </a:prstGeom>
          <a:noFill/>
          <a:ln/>
        </p:spPr>
        <p:txBody>
          <a:bodyPr wrap="square" rtlCol="0" anchor="ctr"/>
          <a:lstStyle/>
          <a:p>
            <a:pPr indent="0" marL="0">
              <a:buNone/>
            </a:pPr>
            <a:r>
              <a:rPr lang="en-US" sz="6000" b="1" dirty="0">
                <a:solidFill>
                  <a:srgbClr val="00E5FF"/>
                </a:solidFill>
                <a:latin typeface="Cambria" pitchFamily="34" charset="0"/>
                <a:ea typeface="Cambria" pitchFamily="34" charset="-122"/>
                <a:cs typeface="Cambria" pitchFamily="34" charset="-120"/>
              </a:rPr>
              <a:t>5.6B+</a:t>
            </a:r>
            <a:endParaRPr lang="en-US" sz="6000" dirty="0"/>
          </a:p>
        </p:txBody>
      </p:sp>
      <p:sp>
        <p:nvSpPr>
          <p:cNvPr id="20" name="Text 15"/>
          <p:cNvSpPr/>
          <p:nvPr/>
        </p:nvSpPr>
        <p:spPr>
          <a:xfrm>
            <a:off x="6766560" y="2788920"/>
            <a:ext cx="4480560" cy="457200"/>
          </a:xfrm>
          <a:prstGeom prst="rect">
            <a:avLst/>
          </a:prstGeom>
          <a:noFill/>
          <a:ln/>
        </p:spPr>
        <p:txBody>
          <a:bodyPr wrap="square" rtlCol="0" anchor="ctr"/>
          <a:lstStyle/>
          <a:p>
            <a:pPr indent="0" marL="0">
              <a:buNone/>
            </a:pPr>
            <a:r>
              <a:rPr lang="en-US" sz="1400" dirty="0">
                <a:solidFill>
                  <a:srgbClr val="E5ECF5"/>
                </a:solidFill>
                <a:latin typeface="Calibri" pitchFamily="34" charset="0"/>
                <a:ea typeface="Calibri" pitchFamily="34" charset="-122"/>
                <a:cs typeface="Calibri" pitchFamily="34" charset="-120"/>
              </a:rPr>
              <a:t>smartphone users worldwide today</a:t>
            </a:r>
            <a:endParaRPr lang="en-US" sz="1400" dirty="0"/>
          </a:p>
        </p:txBody>
      </p:sp>
      <p:sp>
        <p:nvSpPr>
          <p:cNvPr id="21" name="Shape 16"/>
          <p:cNvSpPr/>
          <p:nvPr/>
        </p:nvSpPr>
        <p:spPr>
          <a:xfrm>
            <a:off x="6766560" y="3429000"/>
            <a:ext cx="4480560" cy="0"/>
          </a:xfrm>
          <a:prstGeom prst="line">
            <a:avLst/>
          </a:prstGeom>
          <a:noFill/>
          <a:ln w="12700">
            <a:solidFill>
              <a:srgbClr val="1E3A5F"/>
            </a:solidFill>
            <a:prstDash val="solid"/>
          </a:ln>
        </p:spPr>
      </p:sp>
      <p:sp>
        <p:nvSpPr>
          <p:cNvPr id="22" name="Text 17"/>
          <p:cNvSpPr/>
          <p:nvPr/>
        </p:nvSpPr>
        <p:spPr>
          <a:xfrm>
            <a:off x="6766560" y="3611880"/>
            <a:ext cx="4572000" cy="731520"/>
          </a:xfrm>
          <a:prstGeom prst="rect">
            <a:avLst/>
          </a:prstGeom>
          <a:noFill/>
          <a:ln/>
        </p:spPr>
        <p:txBody>
          <a:bodyPr wrap="square" rtlCol="0" anchor="ctr"/>
          <a:lstStyle/>
          <a:p>
            <a:pPr indent="0" marL="0">
              <a:buNone/>
            </a:pPr>
            <a:r>
              <a:rPr lang="en-US" sz="4400" b="1" dirty="0">
                <a:solidFill>
                  <a:srgbClr val="00E5FF"/>
                </a:solidFill>
                <a:latin typeface="Cambria" pitchFamily="34" charset="0"/>
                <a:ea typeface="Cambria" pitchFamily="34" charset="-122"/>
                <a:cs typeface="Cambria" pitchFamily="34" charset="-120"/>
              </a:rPr>
              <a:t>27B+</a:t>
            </a:r>
            <a:endParaRPr lang="en-US" sz="4400" dirty="0"/>
          </a:p>
        </p:txBody>
      </p:sp>
      <p:sp>
        <p:nvSpPr>
          <p:cNvPr id="23" name="Text 18"/>
          <p:cNvSpPr/>
          <p:nvPr/>
        </p:nvSpPr>
        <p:spPr>
          <a:xfrm>
            <a:off x="6766560" y="4251960"/>
            <a:ext cx="4480560" cy="457200"/>
          </a:xfrm>
          <a:prstGeom prst="rect">
            <a:avLst/>
          </a:prstGeom>
          <a:noFill/>
          <a:ln/>
        </p:spPr>
        <p:txBody>
          <a:bodyPr wrap="square" rtlCol="0" anchor="ctr"/>
          <a:lstStyle/>
          <a:p>
            <a:pPr indent="0" marL="0">
              <a:buNone/>
            </a:pPr>
            <a:r>
              <a:rPr lang="en-US" sz="1400" dirty="0">
                <a:solidFill>
                  <a:srgbClr val="E5ECF5"/>
                </a:solidFill>
                <a:latin typeface="Calibri" pitchFamily="34" charset="0"/>
                <a:ea typeface="Calibri" pitchFamily="34" charset="-122"/>
                <a:cs typeface="Calibri" pitchFamily="34" charset="-120"/>
              </a:rPr>
              <a:t>connected IoT devices expected by 2026</a:t>
            </a:r>
            <a:endParaRPr lang="en-US" sz="1400" dirty="0"/>
          </a:p>
        </p:txBody>
      </p:sp>
      <p:sp>
        <p:nvSpPr>
          <p:cNvPr id="24" name="Shape 19"/>
          <p:cNvSpPr/>
          <p:nvPr/>
        </p:nvSpPr>
        <p:spPr>
          <a:xfrm>
            <a:off x="6766560" y="4892040"/>
            <a:ext cx="4480560" cy="0"/>
          </a:xfrm>
          <a:prstGeom prst="line">
            <a:avLst/>
          </a:prstGeom>
          <a:noFill/>
          <a:ln w="12700">
            <a:solidFill>
              <a:srgbClr val="1E3A5F"/>
            </a:solidFill>
            <a:prstDash val="solid"/>
          </a:ln>
        </p:spPr>
      </p:sp>
      <p:sp>
        <p:nvSpPr>
          <p:cNvPr id="25" name="Text 20"/>
          <p:cNvSpPr/>
          <p:nvPr/>
        </p:nvSpPr>
        <p:spPr>
          <a:xfrm>
            <a:off x="6766560" y="5074920"/>
            <a:ext cx="4480560" cy="685800"/>
          </a:xfrm>
          <a:prstGeom prst="rect">
            <a:avLst/>
          </a:prstGeom>
          <a:noFill/>
          <a:ln/>
        </p:spPr>
        <p:txBody>
          <a:bodyPr wrap="square" rtlCol="0" anchor="ctr"/>
          <a:lstStyle/>
          <a:p>
            <a:pPr indent="0" marL="0">
              <a:lnSpc>
                <a:spcPts val="1600"/>
              </a:lnSpc>
              <a:buNone/>
            </a:pPr>
            <a:r>
              <a:rPr lang="en-US" sz="1250" i="1" dirty="0">
                <a:solidFill>
                  <a:srgbClr val="A9B7C6"/>
                </a:solidFill>
                <a:latin typeface="Calibri" pitchFamily="34" charset="0"/>
                <a:ea typeface="Calibri" pitchFamily="34" charset="-122"/>
                <a:cs typeface="Calibri" pitchFamily="34" charset="-120"/>
              </a:rPr>
              <a:t>"We are what we repeatedly use — technology has become second nature."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6473952"/>
            <a:ext cx="3657600" cy="274320"/>
          </a:xfrm>
          <a:prstGeom prst="rect">
            <a:avLst/>
          </a:prstGeom>
          <a:noFill/>
          <a:ln/>
        </p:spPr>
        <p:txBody>
          <a:bodyPr wrap="square" rtlCol="0" anchor="ctr"/>
          <a:lstStyle/>
          <a:p>
            <a:pPr indent="0" marL="0">
              <a:buNone/>
            </a:pPr>
            <a:r>
              <a:rPr lang="en-US" sz="1000" spc="200" kern="0" dirty="0">
                <a:solidFill>
                  <a:srgbClr val="5B6B7C"/>
                </a:solidFill>
                <a:latin typeface="Calibri" pitchFamily="34" charset="0"/>
                <a:ea typeface="Calibri" pitchFamily="34" charset="-122"/>
                <a:cs typeface="Calibri" pitchFamily="34" charset="-120"/>
              </a:rPr>
              <a:t>GADGETS &amp; TECHNOLOGY</a:t>
            </a:r>
            <a:endParaRPr lang="en-US" sz="1000" dirty="0"/>
          </a:p>
        </p:txBody>
      </p:sp>
      <p:sp>
        <p:nvSpPr>
          <p:cNvPr id="3" name="Text 1"/>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03</a:t>
            </a:r>
            <a:endParaRPr lang="en-US" sz="1000" dirty="0"/>
          </a:p>
        </p:txBody>
      </p:sp>
      <p:sp>
        <p:nvSpPr>
          <p:cNvPr id="4" name="Shape 2"/>
          <p:cNvSpPr/>
          <p:nvPr/>
        </p:nvSpPr>
        <p:spPr>
          <a:xfrm>
            <a:off x="0" y="0"/>
            <a:ext cx="4206240" cy="6858000"/>
          </a:xfrm>
          <a:prstGeom prst="rect">
            <a:avLst/>
          </a:prstGeom>
          <a:solidFill>
            <a:srgbClr val="0F172A"/>
          </a:solidFill>
          <a:ln/>
        </p:spPr>
      </p:sp>
      <p:sp>
        <p:nvSpPr>
          <p:cNvPr id="5" name="Text 3"/>
          <p:cNvSpPr/>
          <p:nvPr/>
        </p:nvSpPr>
        <p:spPr>
          <a:xfrm>
            <a:off x="3246120" y="457200"/>
            <a:ext cx="777240" cy="502920"/>
          </a:xfrm>
          <a:prstGeom prst="rect">
            <a:avLst/>
          </a:prstGeom>
          <a:noFill/>
          <a:ln/>
        </p:spPr>
        <p:txBody>
          <a:bodyPr wrap="square" rtlCol="0" anchor="ctr"/>
          <a:lstStyle/>
          <a:p>
            <a:pPr algn="r" indent="0" marL="0">
              <a:buNone/>
            </a:pPr>
            <a:r>
              <a:rPr lang="en-US" sz="2600" b="1" dirty="0">
                <a:solidFill>
                  <a:srgbClr val="1E3A5F"/>
                </a:solidFill>
                <a:latin typeface="Cambria" pitchFamily="34" charset="0"/>
                <a:ea typeface="Cambria" pitchFamily="34" charset="-122"/>
                <a:cs typeface="Cambria" pitchFamily="34" charset="-120"/>
              </a:rPr>
              <a:t>01</a:t>
            </a:r>
            <a:endParaRPr lang="en-US" sz="2600" dirty="0"/>
          </a:p>
        </p:txBody>
      </p:sp>
      <p:sp>
        <p:nvSpPr>
          <p:cNvPr id="6" name="Shape 4"/>
          <p:cNvSpPr/>
          <p:nvPr/>
        </p:nvSpPr>
        <p:spPr>
          <a:xfrm>
            <a:off x="640080" y="640080"/>
            <a:ext cx="822960" cy="822960"/>
          </a:xfrm>
          <a:prstGeom prst="ellipse">
            <a:avLst/>
          </a:prstGeom>
          <a:solidFill>
            <a:srgbClr val="00E5FF"/>
          </a:solidFill>
          <a:ln/>
        </p:spPr>
      </p:sp>
      <p:pic>
        <p:nvPicPr>
          <p:cNvPr id="7" name="Image 0" descr="/home/claude/pptx_work/icon_mobile_0F172A.png">    </p:cNvPr>
          <p:cNvPicPr>
            <a:picLocks noChangeAspect="1"/>
          </p:cNvPicPr>
          <p:nvPr/>
        </p:nvPicPr>
        <p:blipFill>
          <a:blip r:embed="rId1"/>
          <a:stretch>
            <a:fillRect/>
          </a:stretch>
        </p:blipFill>
        <p:spPr>
          <a:xfrm>
            <a:off x="822960" y="822960"/>
            <a:ext cx="457200" cy="457200"/>
          </a:xfrm>
          <a:prstGeom prst="rect">
            <a:avLst/>
          </a:prstGeom>
        </p:spPr>
      </p:pic>
      <p:sp>
        <p:nvSpPr>
          <p:cNvPr id="8" name="Text 5"/>
          <p:cNvSpPr/>
          <p:nvPr/>
        </p:nvSpPr>
        <p:spPr>
          <a:xfrm>
            <a:off x="640080" y="1691640"/>
            <a:ext cx="3291840" cy="1005840"/>
          </a:xfrm>
          <a:prstGeom prst="rect">
            <a:avLst/>
          </a:prstGeom>
          <a:noFill/>
          <a:ln/>
        </p:spPr>
        <p:txBody>
          <a:bodyPr wrap="square" rtlCol="0" anchor="ctr"/>
          <a:lstStyle/>
          <a:p>
            <a:pPr indent="0" marL="0">
              <a:lnSpc>
                <a:spcPts val="3400"/>
              </a:lnSpc>
              <a:buNone/>
            </a:pPr>
            <a:r>
              <a:rPr lang="en-US" sz="3200" b="1" dirty="0">
                <a:solidFill>
                  <a:srgbClr val="FFFFFF"/>
                </a:solidFill>
                <a:latin typeface="Cambria" pitchFamily="34" charset="0"/>
                <a:ea typeface="Cambria" pitchFamily="34" charset="-122"/>
                <a:cs typeface="Cambria" pitchFamily="34" charset="-120"/>
              </a:rPr>
              <a:t>Smartphones</a:t>
            </a:r>
            <a:endParaRPr lang="en-US" sz="3200" dirty="0"/>
          </a:p>
        </p:txBody>
      </p:sp>
      <p:sp>
        <p:nvSpPr>
          <p:cNvPr id="9" name="Text 6"/>
          <p:cNvSpPr/>
          <p:nvPr/>
        </p:nvSpPr>
        <p:spPr>
          <a:xfrm>
            <a:off x="640080" y="2743200"/>
            <a:ext cx="3200400" cy="1463040"/>
          </a:xfrm>
          <a:prstGeom prst="rect">
            <a:avLst/>
          </a:prstGeom>
          <a:noFill/>
          <a:ln/>
        </p:spPr>
        <p:txBody>
          <a:bodyPr wrap="square" rtlCol="0" anchor="ctr"/>
          <a:lstStyle/>
          <a:p>
            <a:pPr indent="0" marL="0">
              <a:lnSpc>
                <a:spcPts val="1800"/>
              </a:lnSpc>
              <a:buNone/>
            </a:pPr>
            <a:r>
              <a:rPr lang="en-US" sz="1350" dirty="0">
                <a:solidFill>
                  <a:srgbClr val="CADCFC"/>
                </a:solidFill>
                <a:latin typeface="Calibri" pitchFamily="34" charset="0"/>
                <a:ea typeface="Calibri" pitchFamily="34" charset="-122"/>
                <a:cs typeface="Calibri" pitchFamily="34" charset="-120"/>
              </a:rPr>
              <a:t>The pocket-sized computer that changed everything — communication, work, and entertainment in one device.</a:t>
            </a:r>
            <a:endParaRPr lang="en-US" sz="1350" dirty="0"/>
          </a:p>
        </p:txBody>
      </p:sp>
      <p:sp>
        <p:nvSpPr>
          <p:cNvPr id="10" name="Shape 7"/>
          <p:cNvSpPr/>
          <p:nvPr/>
        </p:nvSpPr>
        <p:spPr>
          <a:xfrm>
            <a:off x="4617720" y="685800"/>
            <a:ext cx="502920" cy="502920"/>
          </a:xfrm>
          <a:prstGeom prst="ellipse">
            <a:avLst/>
          </a:prstGeom>
          <a:solidFill>
            <a:srgbClr val="0F172A"/>
          </a:solidFill>
          <a:ln/>
        </p:spPr>
      </p:sp>
      <p:pic>
        <p:nvPicPr>
          <p:cNvPr id="11" name="Image 1" descr="/home/claude/pptx_work/icon_chip_00E5FF.png">    </p:cNvPr>
          <p:cNvPicPr>
            <a:picLocks noChangeAspect="1"/>
          </p:cNvPicPr>
          <p:nvPr/>
        </p:nvPicPr>
        <p:blipFill>
          <a:blip r:embed="rId2"/>
          <a:stretch>
            <a:fillRect/>
          </a:stretch>
        </p:blipFill>
        <p:spPr>
          <a:xfrm>
            <a:off x="4736592" y="804672"/>
            <a:ext cx="265176" cy="265176"/>
          </a:xfrm>
          <a:prstGeom prst="rect">
            <a:avLst/>
          </a:prstGeom>
        </p:spPr>
      </p:pic>
      <p:sp>
        <p:nvSpPr>
          <p:cNvPr id="12" name="Text 8"/>
          <p:cNvSpPr/>
          <p:nvPr/>
        </p:nvSpPr>
        <p:spPr>
          <a:xfrm>
            <a:off x="5303520" y="667512"/>
            <a:ext cx="6035040" cy="320040"/>
          </a:xfrm>
          <a:prstGeom prst="rect">
            <a:avLst/>
          </a:prstGeom>
          <a:noFill/>
          <a:ln/>
        </p:spPr>
        <p:txBody>
          <a:bodyPr wrap="square" rtlCol="0" anchor="ctr"/>
          <a:lstStyle/>
          <a:p>
            <a:pPr indent="0" marL="0">
              <a:buNone/>
            </a:pPr>
            <a:r>
              <a:rPr lang="en-US" sz="1600" b="1" dirty="0">
                <a:solidFill>
                  <a:srgbClr val="13202E"/>
                </a:solidFill>
                <a:latin typeface="Calibri" pitchFamily="34" charset="0"/>
                <a:ea typeface="Calibri" pitchFamily="34" charset="-122"/>
                <a:cs typeface="Calibri" pitchFamily="34" charset="-120"/>
              </a:rPr>
              <a:t>AI-powered cameras</a:t>
            </a:r>
            <a:endParaRPr lang="en-US" sz="1600" dirty="0"/>
          </a:p>
        </p:txBody>
      </p:sp>
      <p:sp>
        <p:nvSpPr>
          <p:cNvPr id="13" name="Text 9"/>
          <p:cNvSpPr/>
          <p:nvPr/>
        </p:nvSpPr>
        <p:spPr>
          <a:xfrm>
            <a:off x="5303520" y="1005840"/>
            <a:ext cx="6217920" cy="548640"/>
          </a:xfrm>
          <a:prstGeom prst="rect">
            <a:avLst/>
          </a:prstGeom>
          <a:noFill/>
          <a:ln/>
        </p:spPr>
        <p:txBody>
          <a:bodyPr wrap="square" rtlCol="0" anchor="ctr"/>
          <a:lstStyle/>
          <a:p>
            <a:pPr indent="0" marL="0">
              <a:lnSpc>
                <a:spcPts val="1600"/>
              </a:lnSpc>
              <a:buNone/>
            </a:pPr>
            <a:r>
              <a:rPr lang="en-US" sz="1250" dirty="0">
                <a:solidFill>
                  <a:srgbClr val="5B6B7C"/>
                </a:solidFill>
                <a:latin typeface="Calibri" pitchFamily="34" charset="0"/>
                <a:ea typeface="Calibri" pitchFamily="34" charset="-122"/>
                <a:cs typeface="Calibri" pitchFamily="34" charset="-120"/>
              </a:rPr>
              <a:t>Automatically enhance photos, recognize faces and scenes, and remove unwanted objects.</a:t>
            </a:r>
            <a:endParaRPr lang="en-US" sz="1250" dirty="0"/>
          </a:p>
        </p:txBody>
      </p:sp>
      <p:sp>
        <p:nvSpPr>
          <p:cNvPr id="14" name="Shape 10"/>
          <p:cNvSpPr/>
          <p:nvPr/>
        </p:nvSpPr>
        <p:spPr>
          <a:xfrm>
            <a:off x="4617720" y="1737360"/>
            <a:ext cx="502920" cy="502920"/>
          </a:xfrm>
          <a:prstGeom prst="ellipse">
            <a:avLst/>
          </a:prstGeom>
          <a:solidFill>
            <a:srgbClr val="0F172A"/>
          </a:solidFill>
          <a:ln/>
        </p:spPr>
      </p:sp>
      <p:pic>
        <p:nvPicPr>
          <p:cNvPr id="15" name="Image 2" descr="/home/claude/pptx_work/icon_wifi_00E5FF.png">    </p:cNvPr>
          <p:cNvPicPr>
            <a:picLocks noChangeAspect="1"/>
          </p:cNvPicPr>
          <p:nvPr/>
        </p:nvPicPr>
        <p:blipFill>
          <a:blip r:embed="rId3"/>
          <a:stretch>
            <a:fillRect/>
          </a:stretch>
        </p:blipFill>
        <p:spPr>
          <a:xfrm>
            <a:off x="4736592" y="1856232"/>
            <a:ext cx="265176" cy="265176"/>
          </a:xfrm>
          <a:prstGeom prst="rect">
            <a:avLst/>
          </a:prstGeom>
        </p:spPr>
      </p:pic>
      <p:sp>
        <p:nvSpPr>
          <p:cNvPr id="16" name="Text 11"/>
          <p:cNvSpPr/>
          <p:nvPr/>
        </p:nvSpPr>
        <p:spPr>
          <a:xfrm>
            <a:off x="5303520" y="1719072"/>
            <a:ext cx="6035040" cy="320040"/>
          </a:xfrm>
          <a:prstGeom prst="rect">
            <a:avLst/>
          </a:prstGeom>
          <a:noFill/>
          <a:ln/>
        </p:spPr>
        <p:txBody>
          <a:bodyPr wrap="square" rtlCol="0" anchor="ctr"/>
          <a:lstStyle/>
          <a:p>
            <a:pPr indent="0" marL="0">
              <a:buNone/>
            </a:pPr>
            <a:r>
              <a:rPr lang="en-US" sz="1600" b="1" dirty="0">
                <a:solidFill>
                  <a:srgbClr val="13202E"/>
                </a:solidFill>
                <a:latin typeface="Calibri" pitchFamily="34" charset="0"/>
                <a:ea typeface="Calibri" pitchFamily="34" charset="-122"/>
                <a:cs typeface="Calibri" pitchFamily="34" charset="-120"/>
              </a:rPr>
              <a:t>5G connectivity</a:t>
            </a:r>
            <a:endParaRPr lang="en-US" sz="1600" dirty="0"/>
          </a:p>
        </p:txBody>
      </p:sp>
      <p:sp>
        <p:nvSpPr>
          <p:cNvPr id="17" name="Text 12"/>
          <p:cNvSpPr/>
          <p:nvPr/>
        </p:nvSpPr>
        <p:spPr>
          <a:xfrm>
            <a:off x="5303520" y="2057400"/>
            <a:ext cx="6217920" cy="548640"/>
          </a:xfrm>
          <a:prstGeom prst="rect">
            <a:avLst/>
          </a:prstGeom>
          <a:noFill/>
          <a:ln/>
        </p:spPr>
        <p:txBody>
          <a:bodyPr wrap="square" rtlCol="0" anchor="ctr"/>
          <a:lstStyle/>
          <a:p>
            <a:pPr indent="0" marL="0">
              <a:lnSpc>
                <a:spcPts val="1600"/>
              </a:lnSpc>
              <a:buNone/>
            </a:pPr>
            <a:r>
              <a:rPr lang="en-US" sz="1250" dirty="0">
                <a:solidFill>
                  <a:srgbClr val="5B6B7C"/>
                </a:solidFill>
                <a:latin typeface="Calibri" pitchFamily="34" charset="0"/>
                <a:ea typeface="Calibri" pitchFamily="34" charset="-122"/>
                <a:cs typeface="Calibri" pitchFamily="34" charset="-120"/>
              </a:rPr>
              <a:t>Ultra-fast mobile internet enables smooth video calls, streaming, and cloud gaming.</a:t>
            </a:r>
            <a:endParaRPr lang="en-US" sz="1250" dirty="0"/>
          </a:p>
        </p:txBody>
      </p:sp>
      <p:sp>
        <p:nvSpPr>
          <p:cNvPr id="18" name="Shape 13"/>
          <p:cNvSpPr/>
          <p:nvPr/>
        </p:nvSpPr>
        <p:spPr>
          <a:xfrm>
            <a:off x="4617720" y="2788920"/>
            <a:ext cx="502920" cy="502920"/>
          </a:xfrm>
          <a:prstGeom prst="ellipse">
            <a:avLst/>
          </a:prstGeom>
          <a:solidFill>
            <a:srgbClr val="0F172A"/>
          </a:solidFill>
          <a:ln/>
        </p:spPr>
      </p:sp>
      <p:pic>
        <p:nvPicPr>
          <p:cNvPr id="19" name="Image 3" descr="/home/claude/pptx_work/icon_shield_00E5FF.png">    </p:cNvPr>
          <p:cNvPicPr>
            <a:picLocks noChangeAspect="1"/>
          </p:cNvPicPr>
          <p:nvPr/>
        </p:nvPicPr>
        <p:blipFill>
          <a:blip r:embed="rId4"/>
          <a:stretch>
            <a:fillRect/>
          </a:stretch>
        </p:blipFill>
        <p:spPr>
          <a:xfrm>
            <a:off x="4736592" y="2907792"/>
            <a:ext cx="265176" cy="265176"/>
          </a:xfrm>
          <a:prstGeom prst="rect">
            <a:avLst/>
          </a:prstGeom>
        </p:spPr>
      </p:pic>
      <p:sp>
        <p:nvSpPr>
          <p:cNvPr id="20" name="Text 14"/>
          <p:cNvSpPr/>
          <p:nvPr/>
        </p:nvSpPr>
        <p:spPr>
          <a:xfrm>
            <a:off x="5303520" y="2770632"/>
            <a:ext cx="6035040" cy="320040"/>
          </a:xfrm>
          <a:prstGeom prst="rect">
            <a:avLst/>
          </a:prstGeom>
          <a:noFill/>
          <a:ln/>
        </p:spPr>
        <p:txBody>
          <a:bodyPr wrap="square" rtlCol="0" anchor="ctr"/>
          <a:lstStyle/>
          <a:p>
            <a:pPr indent="0" marL="0">
              <a:buNone/>
            </a:pPr>
            <a:r>
              <a:rPr lang="en-US" sz="1600" b="1" dirty="0">
                <a:solidFill>
                  <a:srgbClr val="13202E"/>
                </a:solidFill>
                <a:latin typeface="Calibri" pitchFamily="34" charset="0"/>
                <a:ea typeface="Calibri" pitchFamily="34" charset="-122"/>
                <a:cs typeface="Calibri" pitchFamily="34" charset="-120"/>
              </a:rPr>
              <a:t>Biometric security</a:t>
            </a:r>
            <a:endParaRPr lang="en-US" sz="1600" dirty="0"/>
          </a:p>
        </p:txBody>
      </p:sp>
      <p:sp>
        <p:nvSpPr>
          <p:cNvPr id="21" name="Text 15"/>
          <p:cNvSpPr/>
          <p:nvPr/>
        </p:nvSpPr>
        <p:spPr>
          <a:xfrm>
            <a:off x="5303520" y="3108960"/>
            <a:ext cx="6217920" cy="548640"/>
          </a:xfrm>
          <a:prstGeom prst="rect">
            <a:avLst/>
          </a:prstGeom>
          <a:noFill/>
          <a:ln/>
        </p:spPr>
        <p:txBody>
          <a:bodyPr wrap="square" rtlCol="0" anchor="ctr"/>
          <a:lstStyle/>
          <a:p>
            <a:pPr indent="0" marL="0">
              <a:lnSpc>
                <a:spcPts val="1600"/>
              </a:lnSpc>
              <a:buNone/>
            </a:pPr>
            <a:r>
              <a:rPr lang="en-US" sz="1250" dirty="0">
                <a:solidFill>
                  <a:srgbClr val="5B6B7C"/>
                </a:solidFill>
                <a:latin typeface="Calibri" pitchFamily="34" charset="0"/>
                <a:ea typeface="Calibri" pitchFamily="34" charset="-122"/>
                <a:cs typeface="Calibri" pitchFamily="34" charset="-120"/>
              </a:rPr>
              <a:t>Fingerprint and face recognition keep personal data safe and access instant.</a:t>
            </a:r>
            <a:endParaRPr lang="en-US" sz="1250" dirty="0"/>
          </a:p>
        </p:txBody>
      </p:sp>
      <p:sp>
        <p:nvSpPr>
          <p:cNvPr id="22" name="Shape 16"/>
          <p:cNvSpPr/>
          <p:nvPr/>
        </p:nvSpPr>
        <p:spPr>
          <a:xfrm>
            <a:off x="4617720" y="3977640"/>
            <a:ext cx="6903720" cy="1920240"/>
          </a:xfrm>
          <a:prstGeom prst="roundRect">
            <a:avLst>
              <a:gd name="adj" fmla="val 4762"/>
            </a:avLst>
          </a:prstGeom>
          <a:solidFill>
            <a:srgbClr val="FFFFFF"/>
          </a:solidFill>
          <a:ln w="12700">
            <a:solidFill>
              <a:srgbClr val="DCE3EA"/>
            </a:solidFill>
            <a:prstDash val="solid"/>
          </a:ln>
        </p:spPr>
      </p:sp>
      <p:sp>
        <p:nvSpPr>
          <p:cNvPr id="23" name="Text 17"/>
          <p:cNvSpPr/>
          <p:nvPr/>
        </p:nvSpPr>
        <p:spPr>
          <a:xfrm>
            <a:off x="4846320" y="4160520"/>
            <a:ext cx="3657600" cy="320040"/>
          </a:xfrm>
          <a:prstGeom prst="rect">
            <a:avLst/>
          </a:prstGeom>
          <a:noFill/>
          <a:ln/>
        </p:spPr>
        <p:txBody>
          <a:bodyPr wrap="square" rtlCol="0" anchor="ctr"/>
          <a:lstStyle/>
          <a:p>
            <a:pPr indent="0" marL="0">
              <a:buNone/>
            </a:pPr>
            <a:r>
              <a:rPr lang="en-US" sz="1300" b="1" dirty="0">
                <a:solidFill>
                  <a:srgbClr val="1E3A5F"/>
                </a:solidFill>
                <a:latin typeface="Calibri" pitchFamily="34" charset="0"/>
                <a:ea typeface="Calibri" pitchFamily="34" charset="-122"/>
                <a:cs typeface="Calibri" pitchFamily="34" charset="-120"/>
              </a:rPr>
              <a:t>Did you know?</a:t>
            </a:r>
            <a:endParaRPr lang="en-US" sz="1300" dirty="0"/>
          </a:p>
        </p:txBody>
      </p:sp>
      <p:sp>
        <p:nvSpPr>
          <p:cNvPr id="24" name="Text 18"/>
          <p:cNvSpPr/>
          <p:nvPr/>
        </p:nvSpPr>
        <p:spPr>
          <a:xfrm>
            <a:off x="4846320" y="4526280"/>
            <a:ext cx="6400800" cy="1188720"/>
          </a:xfrm>
          <a:prstGeom prst="rect">
            <a:avLst/>
          </a:prstGeom>
          <a:noFill/>
          <a:ln/>
        </p:spPr>
        <p:txBody>
          <a:bodyPr wrap="square" rtlCol="0" anchor="ctr"/>
          <a:lstStyle/>
          <a:p>
            <a:pPr indent="0" marL="0">
              <a:lnSpc>
                <a:spcPts val="1800"/>
              </a:lnSpc>
              <a:buNone/>
            </a:pPr>
            <a:r>
              <a:rPr lang="en-US" sz="1300" dirty="0">
                <a:solidFill>
                  <a:srgbClr val="13202E"/>
                </a:solidFill>
                <a:latin typeface="Calibri" pitchFamily="34" charset="0"/>
                <a:ea typeface="Calibri" pitchFamily="34" charset="-122"/>
                <a:cs typeface="Calibri" pitchFamily="34" charset="-120"/>
              </a:rPr>
              <a:t>Foldable-screen phones now combine the portability of a phone with the screen size of a small tablet — a fast-growing trend among modern gadgets.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6473952"/>
            <a:ext cx="3657600" cy="274320"/>
          </a:xfrm>
          <a:prstGeom prst="rect">
            <a:avLst/>
          </a:prstGeom>
          <a:noFill/>
          <a:ln/>
        </p:spPr>
        <p:txBody>
          <a:bodyPr wrap="square" rtlCol="0" anchor="ctr"/>
          <a:lstStyle/>
          <a:p>
            <a:pPr indent="0" marL="0">
              <a:buNone/>
            </a:pPr>
            <a:r>
              <a:rPr lang="en-US" sz="1000" spc="200" kern="0" dirty="0">
                <a:solidFill>
                  <a:srgbClr val="5B6B7C"/>
                </a:solidFill>
                <a:latin typeface="Calibri" pitchFamily="34" charset="0"/>
                <a:ea typeface="Calibri" pitchFamily="34" charset="-122"/>
                <a:cs typeface="Calibri" pitchFamily="34" charset="-120"/>
              </a:rPr>
              <a:t>GADGETS &amp; TECHNOLOGY</a:t>
            </a:r>
            <a:endParaRPr lang="en-US" sz="1000" dirty="0"/>
          </a:p>
        </p:txBody>
      </p:sp>
      <p:sp>
        <p:nvSpPr>
          <p:cNvPr id="3" name="Text 1"/>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04</a:t>
            </a:r>
            <a:endParaRPr lang="en-US" sz="1000" dirty="0"/>
          </a:p>
        </p:txBody>
      </p:sp>
      <p:sp>
        <p:nvSpPr>
          <p:cNvPr id="4" name="Text 2"/>
          <p:cNvSpPr/>
          <p:nvPr/>
        </p:nvSpPr>
        <p:spPr>
          <a:xfrm>
            <a:off x="548640" y="411480"/>
            <a:ext cx="914400" cy="365760"/>
          </a:xfrm>
          <a:prstGeom prst="rect">
            <a:avLst/>
          </a:prstGeom>
          <a:noFill/>
          <a:ln/>
        </p:spPr>
        <p:txBody>
          <a:bodyPr wrap="square" rtlCol="0" anchor="ctr"/>
          <a:lstStyle/>
          <a:p>
            <a:pPr indent="0" marL="0">
              <a:buNone/>
            </a:pPr>
            <a:r>
              <a:rPr lang="en-US" sz="1600" b="1" dirty="0">
                <a:solidFill>
                  <a:srgbClr val="00E5FF"/>
                </a:solidFill>
                <a:latin typeface="Cambria" pitchFamily="34" charset="0"/>
                <a:ea typeface="Cambria" pitchFamily="34" charset="-122"/>
                <a:cs typeface="Cambria" pitchFamily="34" charset="-120"/>
              </a:rPr>
              <a:t>02</a:t>
            </a:r>
            <a:endParaRPr lang="en-US" sz="1600" dirty="0"/>
          </a:p>
        </p:txBody>
      </p:sp>
      <p:sp>
        <p:nvSpPr>
          <p:cNvPr id="5" name="Text 3"/>
          <p:cNvSpPr/>
          <p:nvPr/>
        </p:nvSpPr>
        <p:spPr>
          <a:xfrm>
            <a:off x="548640" y="731520"/>
            <a:ext cx="7315200" cy="548640"/>
          </a:xfrm>
          <a:prstGeom prst="rect">
            <a:avLst/>
          </a:prstGeom>
          <a:noFill/>
          <a:ln/>
        </p:spPr>
        <p:txBody>
          <a:bodyPr wrap="square" rtlCol="0" anchor="ctr"/>
          <a:lstStyle/>
          <a:p>
            <a:pPr indent="0" marL="0">
              <a:buNone/>
            </a:pPr>
            <a:r>
              <a:rPr lang="en-US" sz="3000" b="1" dirty="0">
                <a:solidFill>
                  <a:srgbClr val="13202E"/>
                </a:solidFill>
                <a:latin typeface="Cambria" pitchFamily="34" charset="0"/>
                <a:ea typeface="Cambria" pitchFamily="34" charset="-122"/>
                <a:cs typeface="Cambria" pitchFamily="34" charset="-120"/>
              </a:rPr>
              <a:t>Wearable Technology</a:t>
            </a:r>
            <a:endParaRPr lang="en-US" sz="3000" dirty="0"/>
          </a:p>
        </p:txBody>
      </p:sp>
      <p:sp>
        <p:nvSpPr>
          <p:cNvPr id="6" name="Text 4"/>
          <p:cNvSpPr/>
          <p:nvPr/>
        </p:nvSpPr>
        <p:spPr>
          <a:xfrm>
            <a:off x="548640" y="1207008"/>
            <a:ext cx="7315200" cy="365760"/>
          </a:xfrm>
          <a:prstGeom prst="rect">
            <a:avLst/>
          </a:prstGeom>
          <a:noFill/>
          <a:ln/>
        </p:spPr>
        <p:txBody>
          <a:bodyPr wrap="square" rtlCol="0" anchor="ctr"/>
          <a:lstStyle/>
          <a:p>
            <a:pPr indent="0" marL="0">
              <a:buNone/>
            </a:pPr>
            <a:r>
              <a:rPr lang="en-US" sz="1500" i="1" dirty="0">
                <a:solidFill>
                  <a:srgbClr val="5B6B7C"/>
                </a:solidFill>
                <a:latin typeface="Calibri" pitchFamily="34" charset="0"/>
                <a:ea typeface="Calibri" pitchFamily="34" charset="-122"/>
                <a:cs typeface="Calibri" pitchFamily="34" charset="-120"/>
              </a:rPr>
              <a:t>Smartwatches, fitness bands, and wireless earbuds</a:t>
            </a:r>
            <a:endParaRPr lang="en-US" sz="1500" dirty="0"/>
          </a:p>
        </p:txBody>
      </p:sp>
      <p:sp>
        <p:nvSpPr>
          <p:cNvPr id="7" name="Shape 5"/>
          <p:cNvSpPr/>
          <p:nvPr/>
        </p:nvSpPr>
        <p:spPr>
          <a:xfrm>
            <a:off x="548640" y="1874520"/>
            <a:ext cx="2514600" cy="4023360"/>
          </a:xfrm>
          <a:prstGeom prst="roundRect">
            <a:avLst>
              <a:gd name="adj" fmla="val 3636"/>
            </a:avLst>
          </a:prstGeom>
          <a:solidFill>
            <a:srgbClr val="0F172A"/>
          </a:solidFill>
          <a:ln/>
        </p:spPr>
      </p:sp>
      <p:sp>
        <p:nvSpPr>
          <p:cNvPr id="8" name="Shape 6"/>
          <p:cNvSpPr/>
          <p:nvPr/>
        </p:nvSpPr>
        <p:spPr>
          <a:xfrm>
            <a:off x="804672" y="2148840"/>
            <a:ext cx="594360" cy="594360"/>
          </a:xfrm>
          <a:prstGeom prst="ellipse">
            <a:avLst/>
          </a:prstGeom>
          <a:solidFill>
            <a:srgbClr val="00E5FF"/>
          </a:solidFill>
          <a:ln/>
        </p:spPr>
      </p:sp>
      <p:pic>
        <p:nvPicPr>
          <p:cNvPr id="9" name="Image 0" descr="/home/claude/pptx_work/icon_clock_0F172A.png">    </p:cNvPr>
          <p:cNvPicPr>
            <a:picLocks noChangeAspect="1"/>
          </p:cNvPicPr>
          <p:nvPr/>
        </p:nvPicPr>
        <p:blipFill>
          <a:blip r:embed="rId1"/>
          <a:stretch>
            <a:fillRect/>
          </a:stretch>
        </p:blipFill>
        <p:spPr>
          <a:xfrm>
            <a:off x="941832" y="2286000"/>
            <a:ext cx="320040" cy="320040"/>
          </a:xfrm>
          <a:prstGeom prst="rect">
            <a:avLst/>
          </a:prstGeom>
        </p:spPr>
      </p:pic>
      <p:sp>
        <p:nvSpPr>
          <p:cNvPr id="10" name="Text 7"/>
          <p:cNvSpPr/>
          <p:nvPr/>
        </p:nvSpPr>
        <p:spPr>
          <a:xfrm>
            <a:off x="804672" y="2926080"/>
            <a:ext cx="2057400" cy="5486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Smartwatches</a:t>
            </a:r>
            <a:endParaRPr lang="en-US" sz="1600" dirty="0"/>
          </a:p>
        </p:txBody>
      </p:sp>
      <p:sp>
        <p:nvSpPr>
          <p:cNvPr id="11" name="Text 8"/>
          <p:cNvSpPr/>
          <p:nvPr/>
        </p:nvSpPr>
        <p:spPr>
          <a:xfrm>
            <a:off x="804672" y="3456432"/>
            <a:ext cx="2057400" cy="2286000"/>
          </a:xfrm>
          <a:prstGeom prst="rect">
            <a:avLst/>
          </a:prstGeom>
          <a:noFill/>
          <a:ln/>
        </p:spPr>
        <p:txBody>
          <a:bodyPr wrap="square" rtlCol="0" anchor="ctr"/>
          <a:lstStyle/>
          <a:p>
            <a:pPr indent="0" marL="0">
              <a:lnSpc>
                <a:spcPts val="1600"/>
              </a:lnSpc>
              <a:buNone/>
            </a:pPr>
            <a:r>
              <a:rPr lang="en-US" sz="1200" dirty="0">
                <a:solidFill>
                  <a:srgbClr val="DCE6F0"/>
                </a:solidFill>
                <a:latin typeface="Calibri" pitchFamily="34" charset="0"/>
                <a:ea typeface="Calibri" pitchFamily="34" charset="-122"/>
                <a:cs typeface="Calibri" pitchFamily="34" charset="-120"/>
              </a:rPr>
              <a:t>Track workouts, receive calls and messages, and monitor daily activity right from the wrist.</a:t>
            </a:r>
            <a:endParaRPr lang="en-US" sz="1200" dirty="0"/>
          </a:p>
        </p:txBody>
      </p:sp>
      <p:sp>
        <p:nvSpPr>
          <p:cNvPr id="12" name="Shape 9"/>
          <p:cNvSpPr/>
          <p:nvPr/>
        </p:nvSpPr>
        <p:spPr>
          <a:xfrm>
            <a:off x="3246120" y="1874520"/>
            <a:ext cx="2514600" cy="4023360"/>
          </a:xfrm>
          <a:prstGeom prst="roundRect">
            <a:avLst>
              <a:gd name="adj" fmla="val 3636"/>
            </a:avLst>
          </a:prstGeom>
          <a:solidFill>
            <a:srgbClr val="1E3A5F"/>
          </a:solidFill>
          <a:ln/>
        </p:spPr>
      </p:sp>
      <p:sp>
        <p:nvSpPr>
          <p:cNvPr id="13" name="Shape 10"/>
          <p:cNvSpPr/>
          <p:nvPr/>
        </p:nvSpPr>
        <p:spPr>
          <a:xfrm>
            <a:off x="3502152" y="2148840"/>
            <a:ext cx="594360" cy="594360"/>
          </a:xfrm>
          <a:prstGeom prst="ellipse">
            <a:avLst/>
          </a:prstGeom>
          <a:solidFill>
            <a:srgbClr val="00E5FF"/>
          </a:solidFill>
          <a:ln/>
        </p:spPr>
      </p:sp>
      <p:pic>
        <p:nvPicPr>
          <p:cNvPr id="14" name="Image 1" descr="/home/claude/pptx_work/icon_heart_0F172A.png">    </p:cNvPr>
          <p:cNvPicPr>
            <a:picLocks noChangeAspect="1"/>
          </p:cNvPicPr>
          <p:nvPr/>
        </p:nvPicPr>
        <p:blipFill>
          <a:blip r:embed="rId2"/>
          <a:stretch>
            <a:fillRect/>
          </a:stretch>
        </p:blipFill>
        <p:spPr>
          <a:xfrm>
            <a:off x="3639312" y="2286000"/>
            <a:ext cx="320040" cy="320040"/>
          </a:xfrm>
          <a:prstGeom prst="rect">
            <a:avLst/>
          </a:prstGeom>
        </p:spPr>
      </p:pic>
      <p:sp>
        <p:nvSpPr>
          <p:cNvPr id="15" name="Text 11"/>
          <p:cNvSpPr/>
          <p:nvPr/>
        </p:nvSpPr>
        <p:spPr>
          <a:xfrm>
            <a:off x="3502152" y="2926080"/>
            <a:ext cx="2057400" cy="5486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Health monitoring</a:t>
            </a:r>
            <a:endParaRPr lang="en-US" sz="1600" dirty="0"/>
          </a:p>
        </p:txBody>
      </p:sp>
      <p:sp>
        <p:nvSpPr>
          <p:cNvPr id="16" name="Text 12"/>
          <p:cNvSpPr/>
          <p:nvPr/>
        </p:nvSpPr>
        <p:spPr>
          <a:xfrm>
            <a:off x="3502152" y="3456432"/>
            <a:ext cx="2057400" cy="2286000"/>
          </a:xfrm>
          <a:prstGeom prst="rect">
            <a:avLst/>
          </a:prstGeom>
          <a:noFill/>
          <a:ln/>
        </p:spPr>
        <p:txBody>
          <a:bodyPr wrap="square" rtlCol="0" anchor="ctr"/>
          <a:lstStyle/>
          <a:p>
            <a:pPr indent="0" marL="0">
              <a:lnSpc>
                <a:spcPts val="1600"/>
              </a:lnSpc>
              <a:buNone/>
            </a:pPr>
            <a:r>
              <a:rPr lang="en-US" sz="1200" dirty="0">
                <a:solidFill>
                  <a:srgbClr val="DCE6F0"/>
                </a:solidFill>
                <a:latin typeface="Calibri" pitchFamily="34" charset="0"/>
                <a:ea typeface="Calibri" pitchFamily="34" charset="-122"/>
                <a:cs typeface="Calibri" pitchFamily="34" charset="-120"/>
              </a:rPr>
              <a:t>Sensors measure heart rate, sleep quality, blood oxygen, and even stress levels.</a:t>
            </a:r>
            <a:endParaRPr lang="en-US" sz="1200" dirty="0"/>
          </a:p>
        </p:txBody>
      </p:sp>
      <p:sp>
        <p:nvSpPr>
          <p:cNvPr id="17" name="Shape 13"/>
          <p:cNvSpPr/>
          <p:nvPr/>
        </p:nvSpPr>
        <p:spPr>
          <a:xfrm>
            <a:off x="5943600" y="1874520"/>
            <a:ext cx="2514600" cy="4023360"/>
          </a:xfrm>
          <a:prstGeom prst="roundRect">
            <a:avLst>
              <a:gd name="adj" fmla="val 3636"/>
            </a:avLst>
          </a:prstGeom>
          <a:solidFill>
            <a:srgbClr val="0F172A"/>
          </a:solidFill>
          <a:ln/>
        </p:spPr>
      </p:sp>
      <p:sp>
        <p:nvSpPr>
          <p:cNvPr id="18" name="Shape 14"/>
          <p:cNvSpPr/>
          <p:nvPr/>
        </p:nvSpPr>
        <p:spPr>
          <a:xfrm>
            <a:off x="6199632" y="2148840"/>
            <a:ext cx="594360" cy="594360"/>
          </a:xfrm>
          <a:prstGeom prst="ellipse">
            <a:avLst/>
          </a:prstGeom>
          <a:solidFill>
            <a:srgbClr val="00E5FF"/>
          </a:solidFill>
          <a:ln/>
        </p:spPr>
      </p:sp>
      <p:pic>
        <p:nvPicPr>
          <p:cNvPr id="19" name="Image 2" descr="/home/claude/pptx_work/icon_headphones_0F172A.png">    </p:cNvPr>
          <p:cNvPicPr>
            <a:picLocks noChangeAspect="1"/>
          </p:cNvPicPr>
          <p:nvPr/>
        </p:nvPicPr>
        <p:blipFill>
          <a:blip r:embed="rId3"/>
          <a:stretch>
            <a:fillRect/>
          </a:stretch>
        </p:blipFill>
        <p:spPr>
          <a:xfrm>
            <a:off x="6336792" y="2286000"/>
            <a:ext cx="320040" cy="320040"/>
          </a:xfrm>
          <a:prstGeom prst="rect">
            <a:avLst/>
          </a:prstGeom>
        </p:spPr>
      </p:pic>
      <p:sp>
        <p:nvSpPr>
          <p:cNvPr id="20" name="Text 15"/>
          <p:cNvSpPr/>
          <p:nvPr/>
        </p:nvSpPr>
        <p:spPr>
          <a:xfrm>
            <a:off x="6199632" y="2926080"/>
            <a:ext cx="2057400" cy="5486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Wireless earbuds</a:t>
            </a:r>
            <a:endParaRPr lang="en-US" sz="1600" dirty="0"/>
          </a:p>
        </p:txBody>
      </p:sp>
      <p:sp>
        <p:nvSpPr>
          <p:cNvPr id="21" name="Text 16"/>
          <p:cNvSpPr/>
          <p:nvPr/>
        </p:nvSpPr>
        <p:spPr>
          <a:xfrm>
            <a:off x="6199632" y="3456432"/>
            <a:ext cx="2057400" cy="2286000"/>
          </a:xfrm>
          <a:prstGeom prst="rect">
            <a:avLst/>
          </a:prstGeom>
          <a:noFill/>
          <a:ln/>
        </p:spPr>
        <p:txBody>
          <a:bodyPr wrap="square" rtlCol="0" anchor="ctr"/>
          <a:lstStyle/>
          <a:p>
            <a:pPr indent="0" marL="0">
              <a:lnSpc>
                <a:spcPts val="1600"/>
              </a:lnSpc>
              <a:buNone/>
            </a:pPr>
            <a:r>
              <a:rPr lang="en-US" sz="1200" dirty="0">
                <a:solidFill>
                  <a:srgbClr val="DCE6F0"/>
                </a:solidFill>
                <a:latin typeface="Calibri" pitchFamily="34" charset="0"/>
                <a:ea typeface="Calibri" pitchFamily="34" charset="-122"/>
                <a:cs typeface="Calibri" pitchFamily="34" charset="-120"/>
              </a:rPr>
              <a:t>Noise-cancelling audio and voice assistants make calls and music truly hands-free.</a:t>
            </a:r>
            <a:endParaRPr lang="en-US" sz="1200" dirty="0"/>
          </a:p>
        </p:txBody>
      </p:sp>
      <p:sp>
        <p:nvSpPr>
          <p:cNvPr id="22" name="Shape 17"/>
          <p:cNvSpPr/>
          <p:nvPr/>
        </p:nvSpPr>
        <p:spPr>
          <a:xfrm>
            <a:off x="8641080" y="1874520"/>
            <a:ext cx="2514600" cy="4023360"/>
          </a:xfrm>
          <a:prstGeom prst="roundRect">
            <a:avLst>
              <a:gd name="adj" fmla="val 3636"/>
            </a:avLst>
          </a:prstGeom>
          <a:solidFill>
            <a:srgbClr val="1E3A5F"/>
          </a:solidFill>
          <a:ln/>
        </p:spPr>
      </p:sp>
      <p:sp>
        <p:nvSpPr>
          <p:cNvPr id="23" name="Shape 18"/>
          <p:cNvSpPr/>
          <p:nvPr/>
        </p:nvSpPr>
        <p:spPr>
          <a:xfrm>
            <a:off x="8897112" y="2148840"/>
            <a:ext cx="594360" cy="594360"/>
          </a:xfrm>
          <a:prstGeom prst="ellipse">
            <a:avLst/>
          </a:prstGeom>
          <a:solidFill>
            <a:srgbClr val="00E5FF"/>
          </a:solidFill>
          <a:ln/>
        </p:spPr>
      </p:sp>
      <p:pic>
        <p:nvPicPr>
          <p:cNvPr id="24" name="Image 3" descr="/home/claude/pptx_work/icon_satellite_0F172A.png">    </p:cNvPr>
          <p:cNvPicPr>
            <a:picLocks noChangeAspect="1"/>
          </p:cNvPicPr>
          <p:nvPr/>
        </p:nvPicPr>
        <p:blipFill>
          <a:blip r:embed="rId4"/>
          <a:stretch>
            <a:fillRect/>
          </a:stretch>
        </p:blipFill>
        <p:spPr>
          <a:xfrm>
            <a:off x="9034272" y="2286000"/>
            <a:ext cx="320040" cy="320040"/>
          </a:xfrm>
          <a:prstGeom prst="rect">
            <a:avLst/>
          </a:prstGeom>
        </p:spPr>
      </p:pic>
      <p:sp>
        <p:nvSpPr>
          <p:cNvPr id="25" name="Text 19"/>
          <p:cNvSpPr/>
          <p:nvPr/>
        </p:nvSpPr>
        <p:spPr>
          <a:xfrm>
            <a:off x="8897112" y="2926080"/>
            <a:ext cx="2057400" cy="5486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GPS tracking</a:t>
            </a:r>
            <a:endParaRPr lang="en-US" sz="1600" dirty="0"/>
          </a:p>
        </p:txBody>
      </p:sp>
      <p:sp>
        <p:nvSpPr>
          <p:cNvPr id="26" name="Text 20"/>
          <p:cNvSpPr/>
          <p:nvPr/>
        </p:nvSpPr>
        <p:spPr>
          <a:xfrm>
            <a:off x="8897112" y="3456432"/>
            <a:ext cx="2057400" cy="2286000"/>
          </a:xfrm>
          <a:prstGeom prst="rect">
            <a:avLst/>
          </a:prstGeom>
          <a:noFill/>
          <a:ln/>
        </p:spPr>
        <p:txBody>
          <a:bodyPr wrap="square" rtlCol="0" anchor="ctr"/>
          <a:lstStyle/>
          <a:p>
            <a:pPr indent="0" marL="0">
              <a:lnSpc>
                <a:spcPts val="1600"/>
              </a:lnSpc>
              <a:buNone/>
            </a:pPr>
            <a:r>
              <a:rPr lang="en-US" sz="1200" dirty="0">
                <a:solidFill>
                  <a:srgbClr val="DCE6F0"/>
                </a:solidFill>
                <a:latin typeface="Calibri" pitchFamily="34" charset="0"/>
                <a:ea typeface="Calibri" pitchFamily="34" charset="-122"/>
                <a:cs typeface="Calibri" pitchFamily="34" charset="-120"/>
              </a:rPr>
              <a:t>Built-in GPS helps runners and cyclists map routes without carrying a phone.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6473952"/>
            <a:ext cx="3657600" cy="274320"/>
          </a:xfrm>
          <a:prstGeom prst="rect">
            <a:avLst/>
          </a:prstGeom>
          <a:noFill/>
          <a:ln/>
        </p:spPr>
        <p:txBody>
          <a:bodyPr wrap="square" rtlCol="0" anchor="ctr"/>
          <a:lstStyle/>
          <a:p>
            <a:pPr indent="0" marL="0">
              <a:buNone/>
            </a:pPr>
            <a:r>
              <a:rPr lang="en-US" sz="1000" spc="200" kern="0" dirty="0">
                <a:solidFill>
                  <a:srgbClr val="A9B7C6"/>
                </a:solidFill>
                <a:latin typeface="Calibri" pitchFamily="34" charset="0"/>
                <a:ea typeface="Calibri" pitchFamily="34" charset="-122"/>
                <a:cs typeface="Calibri" pitchFamily="34" charset="-120"/>
              </a:rPr>
              <a:t>GADGETS &amp; TECHNOLOGY</a:t>
            </a:r>
            <a:endParaRPr lang="en-US" sz="1000" dirty="0"/>
          </a:p>
        </p:txBody>
      </p:sp>
      <p:sp>
        <p:nvSpPr>
          <p:cNvPr id="3" name="Text 1"/>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05</a:t>
            </a:r>
            <a:endParaRPr lang="en-US" sz="1000" dirty="0"/>
          </a:p>
        </p:txBody>
      </p:sp>
      <p:sp>
        <p:nvSpPr>
          <p:cNvPr id="4" name="Text 2"/>
          <p:cNvSpPr/>
          <p:nvPr/>
        </p:nvSpPr>
        <p:spPr>
          <a:xfrm>
            <a:off x="548640" y="411480"/>
            <a:ext cx="914400" cy="365760"/>
          </a:xfrm>
          <a:prstGeom prst="rect">
            <a:avLst/>
          </a:prstGeom>
          <a:noFill/>
          <a:ln/>
        </p:spPr>
        <p:txBody>
          <a:bodyPr wrap="square" rtlCol="0" anchor="ctr"/>
          <a:lstStyle/>
          <a:p>
            <a:pPr indent="0" marL="0">
              <a:buNone/>
            </a:pPr>
            <a:r>
              <a:rPr lang="en-US" sz="1600" b="1" dirty="0">
                <a:solidFill>
                  <a:srgbClr val="00E5FF"/>
                </a:solidFill>
                <a:latin typeface="Cambria" pitchFamily="34" charset="0"/>
                <a:ea typeface="Cambria" pitchFamily="34" charset="-122"/>
                <a:cs typeface="Cambria" pitchFamily="34" charset="-120"/>
              </a:rPr>
              <a:t>03</a:t>
            </a:r>
            <a:endParaRPr lang="en-US" sz="1600" dirty="0"/>
          </a:p>
        </p:txBody>
      </p:sp>
      <p:sp>
        <p:nvSpPr>
          <p:cNvPr id="5" name="Text 3"/>
          <p:cNvSpPr/>
          <p:nvPr/>
        </p:nvSpPr>
        <p:spPr>
          <a:xfrm>
            <a:off x="548640" y="731520"/>
            <a:ext cx="7315200" cy="5486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Smart Home Technology</a:t>
            </a:r>
            <a:endParaRPr lang="en-US" sz="3000" dirty="0"/>
          </a:p>
        </p:txBody>
      </p:sp>
      <p:sp>
        <p:nvSpPr>
          <p:cNvPr id="6" name="Text 4"/>
          <p:cNvSpPr/>
          <p:nvPr/>
        </p:nvSpPr>
        <p:spPr>
          <a:xfrm>
            <a:off x="548640" y="1207008"/>
            <a:ext cx="7315200" cy="365760"/>
          </a:xfrm>
          <a:prstGeom prst="rect">
            <a:avLst/>
          </a:prstGeom>
          <a:noFill/>
          <a:ln/>
        </p:spPr>
        <p:txBody>
          <a:bodyPr wrap="square" rtlCol="0" anchor="ctr"/>
          <a:lstStyle/>
          <a:p>
            <a:pPr indent="0" marL="0">
              <a:buNone/>
            </a:pPr>
            <a:r>
              <a:rPr lang="en-US" sz="1500" i="1" dirty="0">
                <a:solidFill>
                  <a:srgbClr val="A9B7C6"/>
                </a:solidFill>
                <a:latin typeface="Calibri" pitchFamily="34" charset="0"/>
                <a:ea typeface="Calibri" pitchFamily="34" charset="-122"/>
                <a:cs typeface="Calibri" pitchFamily="34" charset="-120"/>
              </a:rPr>
              <a:t>Turning ordinary houses into connected, intelligent spaces</a:t>
            </a:r>
            <a:endParaRPr lang="en-US" sz="1500" dirty="0"/>
          </a:p>
        </p:txBody>
      </p:sp>
      <p:sp>
        <p:nvSpPr>
          <p:cNvPr id="7" name="Shape 5"/>
          <p:cNvSpPr/>
          <p:nvPr/>
        </p:nvSpPr>
        <p:spPr>
          <a:xfrm>
            <a:off x="548640" y="1965960"/>
            <a:ext cx="5257800" cy="2011680"/>
          </a:xfrm>
          <a:prstGeom prst="roundRect">
            <a:avLst>
              <a:gd name="adj" fmla="val 4545"/>
            </a:avLst>
          </a:prstGeom>
          <a:solidFill>
            <a:srgbClr val="1E3A5F"/>
          </a:solidFill>
          <a:ln/>
        </p:spPr>
      </p:sp>
      <p:sp>
        <p:nvSpPr>
          <p:cNvPr id="8" name="Shape 6"/>
          <p:cNvSpPr/>
          <p:nvPr/>
        </p:nvSpPr>
        <p:spPr>
          <a:xfrm>
            <a:off x="822960" y="2258568"/>
            <a:ext cx="548640" cy="548640"/>
          </a:xfrm>
          <a:prstGeom prst="ellipse">
            <a:avLst/>
          </a:prstGeom>
          <a:solidFill>
            <a:srgbClr val="00E5FF"/>
          </a:solidFill>
          <a:ln/>
        </p:spPr>
      </p:sp>
      <p:pic>
        <p:nvPicPr>
          <p:cNvPr id="9" name="Image 0" descr="/home/claude/pptx_work/icon_wifi_0F172A.png">    </p:cNvPr>
          <p:cNvPicPr>
            <a:picLocks noChangeAspect="1"/>
          </p:cNvPicPr>
          <p:nvPr/>
        </p:nvPicPr>
        <p:blipFill>
          <a:blip r:embed="rId1"/>
          <a:stretch>
            <a:fillRect/>
          </a:stretch>
        </p:blipFill>
        <p:spPr>
          <a:xfrm>
            <a:off x="960120" y="2395728"/>
            <a:ext cx="274320" cy="274320"/>
          </a:xfrm>
          <a:prstGeom prst="rect">
            <a:avLst/>
          </a:prstGeom>
        </p:spPr>
      </p:pic>
      <p:sp>
        <p:nvSpPr>
          <p:cNvPr id="10" name="Text 7"/>
          <p:cNvSpPr/>
          <p:nvPr/>
        </p:nvSpPr>
        <p:spPr>
          <a:xfrm>
            <a:off x="1554480" y="2240280"/>
            <a:ext cx="3931920" cy="365760"/>
          </a:xfrm>
          <a:prstGeom prst="rect">
            <a:avLst/>
          </a:prstGeom>
          <a:noFill/>
          <a:ln/>
        </p:spPr>
        <p:txBody>
          <a:bodyPr wrap="square"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Smart speakers</a:t>
            </a:r>
            <a:endParaRPr lang="en-US" sz="1550" dirty="0"/>
          </a:p>
        </p:txBody>
      </p:sp>
      <p:sp>
        <p:nvSpPr>
          <p:cNvPr id="11" name="Text 8"/>
          <p:cNvSpPr/>
          <p:nvPr/>
        </p:nvSpPr>
        <p:spPr>
          <a:xfrm>
            <a:off x="1554480" y="2624328"/>
            <a:ext cx="4023360" cy="1188720"/>
          </a:xfrm>
          <a:prstGeom prst="rect">
            <a:avLst/>
          </a:prstGeom>
          <a:noFill/>
          <a:ln/>
        </p:spPr>
        <p:txBody>
          <a:bodyPr wrap="square" rtlCol="0" anchor="ctr"/>
          <a:lstStyle/>
          <a:p>
            <a:pPr indent="0" marL="0">
              <a:lnSpc>
                <a:spcPts val="1500"/>
              </a:lnSpc>
              <a:buNone/>
            </a:pPr>
            <a:r>
              <a:rPr lang="en-US" sz="1150" dirty="0">
                <a:solidFill>
                  <a:srgbClr val="DCE6F0"/>
                </a:solidFill>
                <a:latin typeface="Calibri" pitchFamily="34" charset="0"/>
                <a:ea typeface="Calibri" pitchFamily="34" charset="-122"/>
                <a:cs typeface="Calibri" pitchFamily="34" charset="-120"/>
              </a:rPr>
              <a:t>Voice-controlled hubs play music, answer questions, and manage the whole house.</a:t>
            </a:r>
            <a:endParaRPr lang="en-US" sz="1150" dirty="0"/>
          </a:p>
        </p:txBody>
      </p:sp>
      <p:sp>
        <p:nvSpPr>
          <p:cNvPr id="12" name="Shape 9"/>
          <p:cNvSpPr/>
          <p:nvPr/>
        </p:nvSpPr>
        <p:spPr>
          <a:xfrm>
            <a:off x="6355080" y="1965960"/>
            <a:ext cx="5257800" cy="2011680"/>
          </a:xfrm>
          <a:prstGeom prst="roundRect">
            <a:avLst>
              <a:gd name="adj" fmla="val 4545"/>
            </a:avLst>
          </a:prstGeom>
          <a:solidFill>
            <a:srgbClr val="1E3A5F"/>
          </a:solidFill>
          <a:ln/>
        </p:spPr>
      </p:sp>
      <p:sp>
        <p:nvSpPr>
          <p:cNvPr id="13" name="Shape 10"/>
          <p:cNvSpPr/>
          <p:nvPr/>
        </p:nvSpPr>
        <p:spPr>
          <a:xfrm>
            <a:off x="6629400" y="2258568"/>
            <a:ext cx="548640" cy="548640"/>
          </a:xfrm>
          <a:prstGeom prst="ellipse">
            <a:avLst/>
          </a:prstGeom>
          <a:solidFill>
            <a:srgbClr val="00E5FF"/>
          </a:solidFill>
          <a:ln/>
        </p:spPr>
      </p:sp>
      <p:pic>
        <p:nvPicPr>
          <p:cNvPr id="14" name="Image 1" descr="/home/claude/pptx_work/icon_bulb_0F172A.png">    </p:cNvPr>
          <p:cNvPicPr>
            <a:picLocks noChangeAspect="1"/>
          </p:cNvPicPr>
          <p:nvPr/>
        </p:nvPicPr>
        <p:blipFill>
          <a:blip r:embed="rId2"/>
          <a:stretch>
            <a:fillRect/>
          </a:stretch>
        </p:blipFill>
        <p:spPr>
          <a:xfrm>
            <a:off x="6766560" y="2395728"/>
            <a:ext cx="274320" cy="274320"/>
          </a:xfrm>
          <a:prstGeom prst="rect">
            <a:avLst/>
          </a:prstGeom>
        </p:spPr>
      </p:pic>
      <p:sp>
        <p:nvSpPr>
          <p:cNvPr id="15" name="Text 11"/>
          <p:cNvSpPr/>
          <p:nvPr/>
        </p:nvSpPr>
        <p:spPr>
          <a:xfrm>
            <a:off x="7360920" y="2240280"/>
            <a:ext cx="3931920" cy="365760"/>
          </a:xfrm>
          <a:prstGeom prst="rect">
            <a:avLst/>
          </a:prstGeom>
          <a:noFill/>
          <a:ln/>
        </p:spPr>
        <p:txBody>
          <a:bodyPr wrap="square"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Smart lighting</a:t>
            </a:r>
            <a:endParaRPr lang="en-US" sz="1550" dirty="0"/>
          </a:p>
        </p:txBody>
      </p:sp>
      <p:sp>
        <p:nvSpPr>
          <p:cNvPr id="16" name="Text 12"/>
          <p:cNvSpPr/>
          <p:nvPr/>
        </p:nvSpPr>
        <p:spPr>
          <a:xfrm>
            <a:off x="7360920" y="2624328"/>
            <a:ext cx="4023360" cy="1188720"/>
          </a:xfrm>
          <a:prstGeom prst="rect">
            <a:avLst/>
          </a:prstGeom>
          <a:noFill/>
          <a:ln/>
        </p:spPr>
        <p:txBody>
          <a:bodyPr wrap="square" rtlCol="0" anchor="ctr"/>
          <a:lstStyle/>
          <a:p>
            <a:pPr indent="0" marL="0">
              <a:lnSpc>
                <a:spcPts val="1500"/>
              </a:lnSpc>
              <a:buNone/>
            </a:pPr>
            <a:r>
              <a:rPr lang="en-US" sz="1150" dirty="0">
                <a:solidFill>
                  <a:srgbClr val="DCE6F0"/>
                </a:solidFill>
                <a:latin typeface="Calibri" pitchFamily="34" charset="0"/>
                <a:ea typeface="Calibri" pitchFamily="34" charset="-122"/>
                <a:cs typeface="Calibri" pitchFamily="34" charset="-120"/>
              </a:rPr>
              <a:t>Lights adjust brightness and color automatically or by voice command.</a:t>
            </a:r>
            <a:endParaRPr lang="en-US" sz="1150" dirty="0"/>
          </a:p>
        </p:txBody>
      </p:sp>
      <p:sp>
        <p:nvSpPr>
          <p:cNvPr id="17" name="Shape 13"/>
          <p:cNvSpPr/>
          <p:nvPr/>
        </p:nvSpPr>
        <p:spPr>
          <a:xfrm>
            <a:off x="548640" y="4160520"/>
            <a:ext cx="5257800" cy="2011680"/>
          </a:xfrm>
          <a:prstGeom prst="roundRect">
            <a:avLst>
              <a:gd name="adj" fmla="val 4545"/>
            </a:avLst>
          </a:prstGeom>
          <a:solidFill>
            <a:srgbClr val="1E3A5F"/>
          </a:solidFill>
          <a:ln/>
        </p:spPr>
      </p:sp>
      <p:sp>
        <p:nvSpPr>
          <p:cNvPr id="18" name="Shape 14"/>
          <p:cNvSpPr/>
          <p:nvPr/>
        </p:nvSpPr>
        <p:spPr>
          <a:xfrm>
            <a:off x="822960" y="4453128"/>
            <a:ext cx="548640" cy="548640"/>
          </a:xfrm>
          <a:prstGeom prst="ellipse">
            <a:avLst/>
          </a:prstGeom>
          <a:solidFill>
            <a:srgbClr val="00E5FF"/>
          </a:solidFill>
          <a:ln/>
        </p:spPr>
      </p:sp>
      <p:pic>
        <p:nvPicPr>
          <p:cNvPr id="19" name="Image 2" descr="/home/claude/pptx_work/icon_shield_0F172A.png">    </p:cNvPr>
          <p:cNvPicPr>
            <a:picLocks noChangeAspect="1"/>
          </p:cNvPicPr>
          <p:nvPr/>
        </p:nvPicPr>
        <p:blipFill>
          <a:blip r:embed="rId3"/>
          <a:stretch>
            <a:fillRect/>
          </a:stretch>
        </p:blipFill>
        <p:spPr>
          <a:xfrm>
            <a:off x="960120" y="4590288"/>
            <a:ext cx="274320" cy="274320"/>
          </a:xfrm>
          <a:prstGeom prst="rect">
            <a:avLst/>
          </a:prstGeom>
        </p:spPr>
      </p:pic>
      <p:sp>
        <p:nvSpPr>
          <p:cNvPr id="20" name="Text 15"/>
          <p:cNvSpPr/>
          <p:nvPr/>
        </p:nvSpPr>
        <p:spPr>
          <a:xfrm>
            <a:off x="1554480" y="4434840"/>
            <a:ext cx="3931920" cy="365760"/>
          </a:xfrm>
          <a:prstGeom prst="rect">
            <a:avLst/>
          </a:prstGeom>
          <a:noFill/>
          <a:ln/>
        </p:spPr>
        <p:txBody>
          <a:bodyPr wrap="square"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Security cameras</a:t>
            </a:r>
            <a:endParaRPr lang="en-US" sz="1550" dirty="0"/>
          </a:p>
        </p:txBody>
      </p:sp>
      <p:sp>
        <p:nvSpPr>
          <p:cNvPr id="21" name="Text 16"/>
          <p:cNvSpPr/>
          <p:nvPr/>
        </p:nvSpPr>
        <p:spPr>
          <a:xfrm>
            <a:off x="1554480" y="4818888"/>
            <a:ext cx="4023360" cy="1188720"/>
          </a:xfrm>
          <a:prstGeom prst="rect">
            <a:avLst/>
          </a:prstGeom>
          <a:noFill/>
          <a:ln/>
        </p:spPr>
        <p:txBody>
          <a:bodyPr wrap="square" rtlCol="0" anchor="ctr"/>
          <a:lstStyle/>
          <a:p>
            <a:pPr indent="0" marL="0">
              <a:lnSpc>
                <a:spcPts val="1500"/>
              </a:lnSpc>
              <a:buNone/>
            </a:pPr>
            <a:r>
              <a:rPr lang="en-US" sz="1150" dirty="0">
                <a:solidFill>
                  <a:srgbClr val="DCE6F0"/>
                </a:solidFill>
                <a:latin typeface="Calibri" pitchFamily="34" charset="0"/>
                <a:ea typeface="Calibri" pitchFamily="34" charset="-122"/>
                <a:cs typeface="Calibri" pitchFamily="34" charset="-120"/>
              </a:rPr>
              <a:t>Motion-sensing cameras send instant alerts to a smartphone from anywhere.</a:t>
            </a:r>
            <a:endParaRPr lang="en-US" sz="1150" dirty="0"/>
          </a:p>
        </p:txBody>
      </p:sp>
      <p:sp>
        <p:nvSpPr>
          <p:cNvPr id="22" name="Shape 17"/>
          <p:cNvSpPr/>
          <p:nvPr/>
        </p:nvSpPr>
        <p:spPr>
          <a:xfrm>
            <a:off x="6355080" y="4160520"/>
            <a:ext cx="5257800" cy="2011680"/>
          </a:xfrm>
          <a:prstGeom prst="roundRect">
            <a:avLst>
              <a:gd name="adj" fmla="val 4545"/>
            </a:avLst>
          </a:prstGeom>
          <a:solidFill>
            <a:srgbClr val="1E3A5F"/>
          </a:solidFill>
          <a:ln/>
        </p:spPr>
      </p:sp>
      <p:sp>
        <p:nvSpPr>
          <p:cNvPr id="23" name="Shape 18"/>
          <p:cNvSpPr/>
          <p:nvPr/>
        </p:nvSpPr>
        <p:spPr>
          <a:xfrm>
            <a:off x="6629400" y="4453128"/>
            <a:ext cx="548640" cy="548640"/>
          </a:xfrm>
          <a:prstGeom prst="ellipse">
            <a:avLst/>
          </a:prstGeom>
          <a:solidFill>
            <a:srgbClr val="00E5FF"/>
          </a:solidFill>
          <a:ln/>
        </p:spPr>
      </p:sp>
      <p:pic>
        <p:nvPicPr>
          <p:cNvPr id="24" name="Image 3" descr="/home/claude/pptx_work/icon_bolt_0F172A.png">    </p:cNvPr>
          <p:cNvPicPr>
            <a:picLocks noChangeAspect="1"/>
          </p:cNvPicPr>
          <p:nvPr/>
        </p:nvPicPr>
        <p:blipFill>
          <a:blip r:embed="rId4"/>
          <a:stretch>
            <a:fillRect/>
          </a:stretch>
        </p:blipFill>
        <p:spPr>
          <a:xfrm>
            <a:off x="6766560" y="4590288"/>
            <a:ext cx="274320" cy="274320"/>
          </a:xfrm>
          <a:prstGeom prst="rect">
            <a:avLst/>
          </a:prstGeom>
        </p:spPr>
      </p:pic>
      <p:sp>
        <p:nvSpPr>
          <p:cNvPr id="25" name="Text 19"/>
          <p:cNvSpPr/>
          <p:nvPr/>
        </p:nvSpPr>
        <p:spPr>
          <a:xfrm>
            <a:off x="7360920" y="4434840"/>
            <a:ext cx="3931920" cy="365760"/>
          </a:xfrm>
          <a:prstGeom prst="rect">
            <a:avLst/>
          </a:prstGeom>
          <a:noFill/>
          <a:ln/>
        </p:spPr>
        <p:txBody>
          <a:bodyPr wrap="square"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Smart thermostats</a:t>
            </a:r>
            <a:endParaRPr lang="en-US" sz="1550" dirty="0"/>
          </a:p>
        </p:txBody>
      </p:sp>
      <p:sp>
        <p:nvSpPr>
          <p:cNvPr id="26" name="Text 20"/>
          <p:cNvSpPr/>
          <p:nvPr/>
        </p:nvSpPr>
        <p:spPr>
          <a:xfrm>
            <a:off x="7360920" y="4818888"/>
            <a:ext cx="4023360" cy="1188720"/>
          </a:xfrm>
          <a:prstGeom prst="rect">
            <a:avLst/>
          </a:prstGeom>
          <a:noFill/>
          <a:ln/>
        </p:spPr>
        <p:txBody>
          <a:bodyPr wrap="square" rtlCol="0" anchor="ctr"/>
          <a:lstStyle/>
          <a:p>
            <a:pPr indent="0" marL="0">
              <a:lnSpc>
                <a:spcPts val="1500"/>
              </a:lnSpc>
              <a:buNone/>
            </a:pPr>
            <a:r>
              <a:rPr lang="en-US" sz="1150" dirty="0">
                <a:solidFill>
                  <a:srgbClr val="DCE6F0"/>
                </a:solidFill>
                <a:latin typeface="Calibri" pitchFamily="34" charset="0"/>
                <a:ea typeface="Calibri" pitchFamily="34" charset="-122"/>
                <a:cs typeface="Calibri" pitchFamily="34" charset="-120"/>
              </a:rPr>
              <a:t>Learn daily habits to save energy while keeping the home comfortable.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457200" y="6473952"/>
            <a:ext cx="3657600" cy="274320"/>
          </a:xfrm>
          <a:prstGeom prst="rect">
            <a:avLst/>
          </a:prstGeom>
          <a:noFill/>
          <a:ln/>
        </p:spPr>
        <p:txBody>
          <a:bodyPr wrap="square" rtlCol="0" anchor="ctr"/>
          <a:lstStyle/>
          <a:p>
            <a:pPr indent="0" marL="0">
              <a:buNone/>
            </a:pPr>
            <a:r>
              <a:rPr lang="en-US" sz="1000" spc="200" kern="0" dirty="0">
                <a:solidFill>
                  <a:srgbClr val="5B6B7C"/>
                </a:solidFill>
                <a:latin typeface="Calibri" pitchFamily="34" charset="0"/>
                <a:ea typeface="Calibri" pitchFamily="34" charset="-122"/>
                <a:cs typeface="Calibri" pitchFamily="34" charset="-120"/>
              </a:rPr>
              <a:t>GADGETS &amp; TECHNOLOGY</a:t>
            </a:r>
            <a:endParaRPr lang="en-US" sz="1000" dirty="0"/>
          </a:p>
        </p:txBody>
      </p:sp>
      <p:sp>
        <p:nvSpPr>
          <p:cNvPr id="3" name="Text 1"/>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06</a:t>
            </a:r>
            <a:endParaRPr lang="en-US" sz="1000" dirty="0"/>
          </a:p>
        </p:txBody>
      </p:sp>
      <p:sp>
        <p:nvSpPr>
          <p:cNvPr id="4" name="Text 2"/>
          <p:cNvSpPr/>
          <p:nvPr/>
        </p:nvSpPr>
        <p:spPr>
          <a:xfrm>
            <a:off x="548640" y="411480"/>
            <a:ext cx="914400" cy="365760"/>
          </a:xfrm>
          <a:prstGeom prst="rect">
            <a:avLst/>
          </a:prstGeom>
          <a:noFill/>
          <a:ln/>
        </p:spPr>
        <p:txBody>
          <a:bodyPr wrap="square" rtlCol="0" anchor="ctr"/>
          <a:lstStyle/>
          <a:p>
            <a:pPr indent="0" marL="0">
              <a:buNone/>
            </a:pPr>
            <a:r>
              <a:rPr lang="en-US" sz="1600" b="1" dirty="0">
                <a:solidFill>
                  <a:srgbClr val="0090A6"/>
                </a:solidFill>
                <a:latin typeface="Cambria" pitchFamily="34" charset="0"/>
                <a:ea typeface="Cambria" pitchFamily="34" charset="-122"/>
                <a:cs typeface="Cambria" pitchFamily="34" charset="-120"/>
              </a:rPr>
              <a:t>04</a:t>
            </a:r>
            <a:endParaRPr lang="en-US" sz="1600" dirty="0"/>
          </a:p>
        </p:txBody>
      </p:sp>
      <p:sp>
        <p:nvSpPr>
          <p:cNvPr id="5" name="Text 3"/>
          <p:cNvSpPr/>
          <p:nvPr/>
        </p:nvSpPr>
        <p:spPr>
          <a:xfrm>
            <a:off x="548640" y="731520"/>
            <a:ext cx="8229600" cy="548640"/>
          </a:xfrm>
          <a:prstGeom prst="rect">
            <a:avLst/>
          </a:prstGeom>
          <a:noFill/>
          <a:ln/>
        </p:spPr>
        <p:txBody>
          <a:bodyPr wrap="square" rtlCol="0" anchor="ctr"/>
          <a:lstStyle/>
          <a:p>
            <a:pPr indent="0" marL="0">
              <a:buNone/>
            </a:pPr>
            <a:r>
              <a:rPr lang="en-US" sz="3000" b="1" dirty="0">
                <a:solidFill>
                  <a:srgbClr val="13202E"/>
                </a:solidFill>
                <a:latin typeface="Cambria" pitchFamily="34" charset="0"/>
                <a:ea typeface="Cambria" pitchFamily="34" charset="-122"/>
                <a:cs typeface="Cambria" pitchFamily="34" charset="-120"/>
              </a:rPr>
              <a:t>Artificial Intelligence Assistants</a:t>
            </a:r>
            <a:endParaRPr lang="en-US" sz="3000" dirty="0"/>
          </a:p>
        </p:txBody>
      </p:sp>
      <p:sp>
        <p:nvSpPr>
          <p:cNvPr id="6" name="Text 4"/>
          <p:cNvSpPr/>
          <p:nvPr/>
        </p:nvSpPr>
        <p:spPr>
          <a:xfrm>
            <a:off x="548640" y="1207008"/>
            <a:ext cx="7315200" cy="365760"/>
          </a:xfrm>
          <a:prstGeom prst="rect">
            <a:avLst/>
          </a:prstGeom>
          <a:noFill/>
          <a:ln/>
        </p:spPr>
        <p:txBody>
          <a:bodyPr wrap="square" rtlCol="0" anchor="ctr"/>
          <a:lstStyle/>
          <a:p>
            <a:pPr indent="0" marL="0">
              <a:buNone/>
            </a:pPr>
            <a:r>
              <a:rPr lang="en-US" sz="1500" i="1" dirty="0">
                <a:solidFill>
                  <a:srgbClr val="5B6B7C"/>
                </a:solidFill>
                <a:latin typeface="Calibri" pitchFamily="34" charset="0"/>
                <a:ea typeface="Calibri" pitchFamily="34" charset="-122"/>
                <a:cs typeface="Calibri" pitchFamily="34" charset="-120"/>
              </a:rPr>
              <a:t>From voice assistants to conversational AI</a:t>
            </a:r>
            <a:endParaRPr lang="en-US" sz="1500" dirty="0"/>
          </a:p>
        </p:txBody>
      </p:sp>
      <p:sp>
        <p:nvSpPr>
          <p:cNvPr id="7" name="Shape 5"/>
          <p:cNvSpPr/>
          <p:nvPr/>
        </p:nvSpPr>
        <p:spPr>
          <a:xfrm>
            <a:off x="548640" y="1828800"/>
            <a:ext cx="3657600" cy="4114800"/>
          </a:xfrm>
          <a:prstGeom prst="roundRect">
            <a:avLst>
              <a:gd name="adj" fmla="val 3000"/>
            </a:avLst>
          </a:prstGeom>
          <a:solidFill>
            <a:srgbClr val="0F172A"/>
          </a:solidFill>
          <a:ln/>
        </p:spPr>
      </p:sp>
      <p:sp>
        <p:nvSpPr>
          <p:cNvPr id="8" name="Shape 6"/>
          <p:cNvSpPr/>
          <p:nvPr/>
        </p:nvSpPr>
        <p:spPr>
          <a:xfrm>
            <a:off x="1737360" y="2834640"/>
            <a:ext cx="1280160" cy="1280160"/>
          </a:xfrm>
          <a:prstGeom prst="ellipse">
            <a:avLst/>
          </a:prstGeom>
          <a:solidFill>
            <a:srgbClr val="00E5FF"/>
          </a:solidFill>
          <a:ln/>
        </p:spPr>
      </p:sp>
      <p:pic>
        <p:nvPicPr>
          <p:cNvPr id="9" name="Image 0" descr="/home/claude/pptx_work/icon_robot_0F172A.png">    </p:cNvPr>
          <p:cNvPicPr>
            <a:picLocks noChangeAspect="1"/>
          </p:cNvPicPr>
          <p:nvPr/>
        </p:nvPicPr>
        <p:blipFill>
          <a:blip r:embed="rId1"/>
          <a:stretch>
            <a:fillRect/>
          </a:stretch>
        </p:blipFill>
        <p:spPr>
          <a:xfrm>
            <a:off x="2029968" y="3127248"/>
            <a:ext cx="694944" cy="694944"/>
          </a:xfrm>
          <a:prstGeom prst="rect">
            <a:avLst/>
          </a:prstGeom>
        </p:spPr>
      </p:pic>
      <p:sp>
        <p:nvSpPr>
          <p:cNvPr id="10" name="Text 7"/>
          <p:cNvSpPr/>
          <p:nvPr/>
        </p:nvSpPr>
        <p:spPr>
          <a:xfrm>
            <a:off x="914400" y="4434840"/>
            <a:ext cx="2926080" cy="1188720"/>
          </a:xfrm>
          <a:prstGeom prst="rect">
            <a:avLst/>
          </a:prstGeom>
          <a:noFill/>
          <a:ln/>
        </p:spPr>
        <p:txBody>
          <a:bodyPr wrap="square" rtlCol="0" anchor="ctr"/>
          <a:lstStyle/>
          <a:p>
            <a:pPr algn="ctr" indent="0" marL="0">
              <a:lnSpc>
                <a:spcPts val="1800"/>
              </a:lnSpc>
              <a:buNone/>
            </a:pPr>
            <a:r>
              <a:rPr lang="en-US" sz="1300" i="1" dirty="0">
                <a:solidFill>
                  <a:srgbClr val="CADCFC"/>
                </a:solidFill>
                <a:latin typeface="Calibri" pitchFamily="34" charset="0"/>
                <a:ea typeface="Calibri" pitchFamily="34" charset="-122"/>
                <a:cs typeface="Calibri" pitchFamily="34" charset="-120"/>
              </a:rPr>
              <a:t>AI assistants respond to natural language and learn from every interaction.</a:t>
            </a:r>
            <a:endParaRPr lang="en-US" sz="1300" dirty="0"/>
          </a:p>
        </p:txBody>
      </p:sp>
      <p:sp>
        <p:nvSpPr>
          <p:cNvPr id="11" name="Shape 8"/>
          <p:cNvSpPr/>
          <p:nvPr/>
        </p:nvSpPr>
        <p:spPr>
          <a:xfrm>
            <a:off x="4617720" y="1965960"/>
            <a:ext cx="54864" cy="914400"/>
          </a:xfrm>
          <a:prstGeom prst="rect">
            <a:avLst/>
          </a:prstGeom>
          <a:solidFill>
            <a:srgbClr val="00E5FF"/>
          </a:solidFill>
          <a:ln/>
        </p:spPr>
      </p:sp>
      <p:sp>
        <p:nvSpPr>
          <p:cNvPr id="12" name="Text 9"/>
          <p:cNvSpPr/>
          <p:nvPr/>
        </p:nvSpPr>
        <p:spPr>
          <a:xfrm>
            <a:off x="4846320" y="1920240"/>
            <a:ext cx="6583680" cy="365760"/>
          </a:xfrm>
          <a:prstGeom prst="rect">
            <a:avLst/>
          </a:prstGeom>
          <a:noFill/>
          <a:ln/>
        </p:spPr>
        <p:txBody>
          <a:bodyPr wrap="square" rtlCol="0" anchor="ctr"/>
          <a:lstStyle/>
          <a:p>
            <a:pPr indent="0" marL="0">
              <a:buNone/>
            </a:pPr>
            <a:r>
              <a:rPr lang="en-US" sz="1600" b="1" dirty="0">
                <a:solidFill>
                  <a:srgbClr val="13202E"/>
                </a:solidFill>
                <a:latin typeface="Calibri" pitchFamily="34" charset="0"/>
                <a:ea typeface="Calibri" pitchFamily="34" charset="-122"/>
                <a:cs typeface="Calibri" pitchFamily="34" charset="-120"/>
              </a:rPr>
              <a:t>Voice assistants</a:t>
            </a:r>
            <a:endParaRPr lang="en-US" sz="1600" dirty="0"/>
          </a:p>
        </p:txBody>
      </p:sp>
      <p:sp>
        <p:nvSpPr>
          <p:cNvPr id="13" name="Text 10"/>
          <p:cNvSpPr/>
          <p:nvPr/>
        </p:nvSpPr>
        <p:spPr>
          <a:xfrm>
            <a:off x="4846320" y="2286000"/>
            <a:ext cx="6583680" cy="594360"/>
          </a:xfrm>
          <a:prstGeom prst="rect">
            <a:avLst/>
          </a:prstGeom>
          <a:noFill/>
          <a:ln/>
        </p:spPr>
        <p:txBody>
          <a:bodyPr wrap="square" rtlCol="0" anchor="ctr"/>
          <a:lstStyle/>
          <a:p>
            <a:pPr indent="0" marL="0">
              <a:lnSpc>
                <a:spcPts val="1700"/>
              </a:lnSpc>
              <a:buNone/>
            </a:pPr>
            <a:r>
              <a:rPr lang="en-US" sz="1300" dirty="0">
                <a:solidFill>
                  <a:srgbClr val="5B6B7C"/>
                </a:solidFill>
                <a:latin typeface="Calibri" pitchFamily="34" charset="0"/>
                <a:ea typeface="Calibri" pitchFamily="34" charset="-122"/>
                <a:cs typeface="Calibri" pitchFamily="34" charset="-120"/>
              </a:rPr>
              <a:t>Siri, Alexa, and Google Assistant set reminders, answer questions, and control smart devices by voice.</a:t>
            </a:r>
            <a:endParaRPr lang="en-US" sz="1300" dirty="0"/>
          </a:p>
        </p:txBody>
      </p:sp>
      <p:sp>
        <p:nvSpPr>
          <p:cNvPr id="14" name="Shape 11"/>
          <p:cNvSpPr/>
          <p:nvPr/>
        </p:nvSpPr>
        <p:spPr>
          <a:xfrm>
            <a:off x="4617720" y="3291840"/>
            <a:ext cx="54864" cy="914400"/>
          </a:xfrm>
          <a:prstGeom prst="rect">
            <a:avLst/>
          </a:prstGeom>
          <a:solidFill>
            <a:srgbClr val="00E5FF"/>
          </a:solidFill>
          <a:ln/>
        </p:spPr>
      </p:sp>
      <p:sp>
        <p:nvSpPr>
          <p:cNvPr id="15" name="Text 12"/>
          <p:cNvSpPr/>
          <p:nvPr/>
        </p:nvSpPr>
        <p:spPr>
          <a:xfrm>
            <a:off x="4846320" y="3246120"/>
            <a:ext cx="6583680" cy="365760"/>
          </a:xfrm>
          <a:prstGeom prst="rect">
            <a:avLst/>
          </a:prstGeom>
          <a:noFill/>
          <a:ln/>
        </p:spPr>
        <p:txBody>
          <a:bodyPr wrap="square" rtlCol="0" anchor="ctr"/>
          <a:lstStyle/>
          <a:p>
            <a:pPr indent="0" marL="0">
              <a:buNone/>
            </a:pPr>
            <a:r>
              <a:rPr lang="en-US" sz="1600" b="1" dirty="0">
                <a:solidFill>
                  <a:srgbClr val="13202E"/>
                </a:solidFill>
                <a:latin typeface="Calibri" pitchFamily="34" charset="0"/>
                <a:ea typeface="Calibri" pitchFamily="34" charset="-122"/>
                <a:cs typeface="Calibri" pitchFamily="34" charset="-120"/>
              </a:rPr>
              <a:t>Conversational AI</a:t>
            </a:r>
            <a:endParaRPr lang="en-US" sz="1600" dirty="0"/>
          </a:p>
        </p:txBody>
      </p:sp>
      <p:sp>
        <p:nvSpPr>
          <p:cNvPr id="16" name="Text 13"/>
          <p:cNvSpPr/>
          <p:nvPr/>
        </p:nvSpPr>
        <p:spPr>
          <a:xfrm>
            <a:off x="4846320" y="3611880"/>
            <a:ext cx="6583680" cy="594360"/>
          </a:xfrm>
          <a:prstGeom prst="rect">
            <a:avLst/>
          </a:prstGeom>
          <a:noFill/>
          <a:ln/>
        </p:spPr>
        <p:txBody>
          <a:bodyPr wrap="square" rtlCol="0" anchor="ctr"/>
          <a:lstStyle/>
          <a:p>
            <a:pPr indent="0" marL="0">
              <a:lnSpc>
                <a:spcPts val="1700"/>
              </a:lnSpc>
              <a:buNone/>
            </a:pPr>
            <a:r>
              <a:rPr lang="en-US" sz="1300" dirty="0">
                <a:solidFill>
                  <a:srgbClr val="5B6B7C"/>
                </a:solidFill>
                <a:latin typeface="Calibri" pitchFamily="34" charset="0"/>
                <a:ea typeface="Calibri" pitchFamily="34" charset="-122"/>
                <a:cs typeface="Calibri" pitchFamily="34" charset="-120"/>
              </a:rPr>
              <a:t>Chatbots like ChatGPT help with writing, studying, translation, and everyday problem-solving.</a:t>
            </a:r>
            <a:endParaRPr lang="en-US" sz="1300" dirty="0"/>
          </a:p>
        </p:txBody>
      </p:sp>
      <p:sp>
        <p:nvSpPr>
          <p:cNvPr id="17" name="Shape 14"/>
          <p:cNvSpPr/>
          <p:nvPr/>
        </p:nvSpPr>
        <p:spPr>
          <a:xfrm>
            <a:off x="4617720" y="4617720"/>
            <a:ext cx="54864" cy="914400"/>
          </a:xfrm>
          <a:prstGeom prst="rect">
            <a:avLst/>
          </a:prstGeom>
          <a:solidFill>
            <a:srgbClr val="00E5FF"/>
          </a:solidFill>
          <a:ln/>
        </p:spPr>
      </p:sp>
      <p:sp>
        <p:nvSpPr>
          <p:cNvPr id="18" name="Text 15"/>
          <p:cNvSpPr/>
          <p:nvPr/>
        </p:nvSpPr>
        <p:spPr>
          <a:xfrm>
            <a:off x="4846320" y="4572000"/>
            <a:ext cx="6583680" cy="365760"/>
          </a:xfrm>
          <a:prstGeom prst="rect">
            <a:avLst/>
          </a:prstGeom>
          <a:noFill/>
          <a:ln/>
        </p:spPr>
        <p:txBody>
          <a:bodyPr wrap="square" rtlCol="0" anchor="ctr"/>
          <a:lstStyle/>
          <a:p>
            <a:pPr indent="0" marL="0">
              <a:buNone/>
            </a:pPr>
            <a:r>
              <a:rPr lang="en-US" sz="1600" b="1" dirty="0">
                <a:solidFill>
                  <a:srgbClr val="13202E"/>
                </a:solidFill>
                <a:latin typeface="Calibri" pitchFamily="34" charset="0"/>
                <a:ea typeface="Calibri" pitchFamily="34" charset="-122"/>
                <a:cs typeface="Calibri" pitchFamily="34" charset="-120"/>
              </a:rPr>
              <a:t>Smart recommendations</a:t>
            </a:r>
            <a:endParaRPr lang="en-US" sz="1600" dirty="0"/>
          </a:p>
        </p:txBody>
      </p:sp>
      <p:sp>
        <p:nvSpPr>
          <p:cNvPr id="19" name="Text 16"/>
          <p:cNvSpPr/>
          <p:nvPr/>
        </p:nvSpPr>
        <p:spPr>
          <a:xfrm>
            <a:off x="4846320" y="4937760"/>
            <a:ext cx="6583680" cy="594360"/>
          </a:xfrm>
          <a:prstGeom prst="rect">
            <a:avLst/>
          </a:prstGeom>
          <a:noFill/>
          <a:ln/>
        </p:spPr>
        <p:txBody>
          <a:bodyPr wrap="square" rtlCol="0" anchor="ctr"/>
          <a:lstStyle/>
          <a:p>
            <a:pPr indent="0" marL="0">
              <a:lnSpc>
                <a:spcPts val="1700"/>
              </a:lnSpc>
              <a:buNone/>
            </a:pPr>
            <a:r>
              <a:rPr lang="en-US" sz="1300" dirty="0">
                <a:solidFill>
                  <a:srgbClr val="5B6B7C"/>
                </a:solidFill>
                <a:latin typeface="Calibri" pitchFamily="34" charset="0"/>
                <a:ea typeface="Calibri" pitchFamily="34" charset="-122"/>
                <a:cs typeface="Calibri" pitchFamily="34" charset="-120"/>
              </a:rPr>
              <a:t>Streaming and shopping apps use AI to suggest content and products based on personal habits.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7955280" y="0"/>
            <a:ext cx="4206240" cy="6858000"/>
          </a:xfrm>
          <a:prstGeom prst="rect">
            <a:avLst/>
          </a:prstGeom>
          <a:solidFill>
            <a:srgbClr val="0F172A"/>
          </a:solidFill>
          <a:ln/>
        </p:spPr>
      </p:sp>
      <p:sp>
        <p:nvSpPr>
          <p:cNvPr id="3" name="Shape 1"/>
          <p:cNvSpPr/>
          <p:nvPr/>
        </p:nvSpPr>
        <p:spPr>
          <a:xfrm>
            <a:off x="10881360" y="594360"/>
            <a:ext cx="822960" cy="822960"/>
          </a:xfrm>
          <a:prstGeom prst="ellipse">
            <a:avLst/>
          </a:prstGeom>
          <a:solidFill>
            <a:srgbClr val="00E5FF"/>
          </a:solidFill>
          <a:ln/>
        </p:spPr>
      </p:sp>
      <p:pic>
        <p:nvPicPr>
          <p:cNvPr id="4" name="Image 0" descr="/home/claude/pptx_work/icon_car_0F172A.png">    </p:cNvPr>
          <p:cNvPicPr>
            <a:picLocks noChangeAspect="1"/>
          </p:cNvPicPr>
          <p:nvPr/>
        </p:nvPicPr>
        <p:blipFill>
          <a:blip r:embed="rId1"/>
          <a:stretch>
            <a:fillRect/>
          </a:stretch>
        </p:blipFill>
        <p:spPr>
          <a:xfrm>
            <a:off x="11064240" y="777240"/>
            <a:ext cx="457200" cy="457200"/>
          </a:xfrm>
          <a:prstGeom prst="rect">
            <a:avLst/>
          </a:prstGeom>
        </p:spPr>
      </p:pic>
      <p:sp>
        <p:nvSpPr>
          <p:cNvPr id="5" name="Text 2"/>
          <p:cNvSpPr/>
          <p:nvPr/>
        </p:nvSpPr>
        <p:spPr>
          <a:xfrm>
            <a:off x="8138160" y="457200"/>
            <a:ext cx="914400" cy="457200"/>
          </a:xfrm>
          <a:prstGeom prst="rect">
            <a:avLst/>
          </a:prstGeom>
          <a:noFill/>
          <a:ln/>
        </p:spPr>
        <p:txBody>
          <a:bodyPr wrap="square" rtlCol="0" anchor="ctr"/>
          <a:lstStyle/>
          <a:p>
            <a:pPr indent="0" marL="0">
              <a:buNone/>
            </a:pPr>
            <a:r>
              <a:rPr lang="en-US" sz="2400" b="1" dirty="0">
                <a:solidFill>
                  <a:srgbClr val="1E3A5F"/>
                </a:solidFill>
                <a:latin typeface="Cambria" pitchFamily="34" charset="0"/>
                <a:ea typeface="Cambria" pitchFamily="34" charset="-122"/>
                <a:cs typeface="Cambria" pitchFamily="34" charset="-120"/>
              </a:rPr>
              <a:t>05</a:t>
            </a:r>
            <a:endParaRPr lang="en-US" sz="2400" dirty="0"/>
          </a:p>
        </p:txBody>
      </p:sp>
      <p:sp>
        <p:nvSpPr>
          <p:cNvPr id="6" name="Text 3"/>
          <p:cNvSpPr/>
          <p:nvPr/>
        </p:nvSpPr>
        <p:spPr>
          <a:xfrm>
            <a:off x="8138160" y="1600200"/>
            <a:ext cx="3383280" cy="1280160"/>
          </a:xfrm>
          <a:prstGeom prst="rect">
            <a:avLst/>
          </a:prstGeom>
          <a:noFill/>
          <a:ln/>
        </p:spPr>
        <p:txBody>
          <a:bodyPr wrap="square" rtlCol="0" anchor="ctr"/>
          <a:lstStyle/>
          <a:p>
            <a:pPr indent="0" marL="0">
              <a:lnSpc>
                <a:spcPts val="3200"/>
              </a:lnSpc>
              <a:buNone/>
            </a:pPr>
            <a:r>
              <a:rPr lang="en-US" sz="2700" b="1" dirty="0">
                <a:solidFill>
                  <a:srgbClr val="FFFFFF"/>
                </a:solidFill>
                <a:latin typeface="Cambria" pitchFamily="34" charset="0"/>
                <a:ea typeface="Cambria" pitchFamily="34" charset="-122"/>
                <a:cs typeface="Cambria" pitchFamily="34" charset="-120"/>
              </a:rPr>
              <a:t>Electric &amp;</a:t>
            </a:r>
            <a:endParaRPr lang="en-US" sz="2700" dirty="0"/>
          </a:p>
          <a:p>
            <a:pPr indent="0" marL="0">
              <a:lnSpc>
                <a:spcPts val="3200"/>
              </a:lnSpc>
              <a:buNone/>
            </a:pPr>
            <a:r>
              <a:rPr lang="en-US" sz="2700" b="1" dirty="0">
                <a:solidFill>
                  <a:srgbClr val="FFFFFF"/>
                </a:solidFill>
                <a:latin typeface="Cambria" pitchFamily="34" charset="0"/>
                <a:ea typeface="Cambria" pitchFamily="34" charset="-122"/>
                <a:cs typeface="Cambria" pitchFamily="34" charset="-120"/>
              </a:rPr>
              <a:t>Self-Driving Cars</a:t>
            </a:r>
            <a:endParaRPr lang="en-US" sz="2700" dirty="0"/>
          </a:p>
        </p:txBody>
      </p:sp>
      <p:sp>
        <p:nvSpPr>
          <p:cNvPr id="7" name="Text 4"/>
          <p:cNvSpPr/>
          <p:nvPr/>
        </p:nvSpPr>
        <p:spPr>
          <a:xfrm>
            <a:off x="8138160" y="2926080"/>
            <a:ext cx="3291840" cy="1097280"/>
          </a:xfrm>
          <a:prstGeom prst="rect">
            <a:avLst/>
          </a:prstGeom>
          <a:noFill/>
          <a:ln/>
        </p:spPr>
        <p:txBody>
          <a:bodyPr wrap="square" rtlCol="0" anchor="ctr"/>
          <a:lstStyle/>
          <a:p>
            <a:pPr indent="0" marL="0">
              <a:lnSpc>
                <a:spcPts val="1800"/>
              </a:lnSpc>
              <a:buNone/>
            </a:pPr>
            <a:r>
              <a:rPr lang="en-US" sz="1300" dirty="0">
                <a:solidFill>
                  <a:srgbClr val="CADCFC"/>
                </a:solidFill>
                <a:latin typeface="Calibri" pitchFamily="34" charset="0"/>
                <a:ea typeface="Calibri" pitchFamily="34" charset="-122"/>
                <a:cs typeface="Calibri" pitchFamily="34" charset="-120"/>
              </a:rPr>
              <a:t>Modern transport technology is cleaner, smarter, and increasingly autonomous.</a:t>
            </a:r>
            <a:endParaRPr lang="en-US" sz="1300" dirty="0"/>
          </a:p>
        </p:txBody>
      </p:sp>
      <p:sp>
        <p:nvSpPr>
          <p:cNvPr id="8" name="Shape 5"/>
          <p:cNvSpPr/>
          <p:nvPr/>
        </p:nvSpPr>
        <p:spPr>
          <a:xfrm>
            <a:off x="548640" y="822960"/>
            <a:ext cx="548640" cy="548640"/>
          </a:xfrm>
          <a:prstGeom prst="ellipse">
            <a:avLst/>
          </a:prstGeom>
          <a:solidFill>
            <a:srgbClr val="0F172A"/>
          </a:solidFill>
          <a:ln/>
        </p:spPr>
      </p:sp>
      <p:pic>
        <p:nvPicPr>
          <p:cNvPr id="9" name="Image 1" descr="/home/claude/pptx_work/icon_bolt_00E5FF.png">    </p:cNvPr>
          <p:cNvPicPr>
            <a:picLocks noChangeAspect="1"/>
          </p:cNvPicPr>
          <p:nvPr/>
        </p:nvPicPr>
        <p:blipFill>
          <a:blip r:embed="rId2"/>
          <a:stretch>
            <a:fillRect/>
          </a:stretch>
        </p:blipFill>
        <p:spPr>
          <a:xfrm>
            <a:off x="676656" y="950976"/>
            <a:ext cx="292608" cy="292608"/>
          </a:xfrm>
          <a:prstGeom prst="rect">
            <a:avLst/>
          </a:prstGeom>
        </p:spPr>
      </p:pic>
      <p:sp>
        <p:nvSpPr>
          <p:cNvPr id="10" name="Text 6"/>
          <p:cNvSpPr/>
          <p:nvPr/>
        </p:nvSpPr>
        <p:spPr>
          <a:xfrm>
            <a:off x="1280160" y="804672"/>
            <a:ext cx="6035040" cy="320040"/>
          </a:xfrm>
          <a:prstGeom prst="rect">
            <a:avLst/>
          </a:prstGeom>
          <a:noFill/>
          <a:ln/>
        </p:spPr>
        <p:txBody>
          <a:bodyPr wrap="square" rtlCol="0" anchor="ctr"/>
          <a:lstStyle/>
          <a:p>
            <a:pPr indent="0" marL="0">
              <a:buNone/>
            </a:pPr>
            <a:r>
              <a:rPr lang="en-US" sz="1650" b="1" dirty="0">
                <a:solidFill>
                  <a:srgbClr val="13202E"/>
                </a:solidFill>
                <a:latin typeface="Calibri" pitchFamily="34" charset="0"/>
                <a:ea typeface="Calibri" pitchFamily="34" charset="-122"/>
                <a:cs typeface="Calibri" pitchFamily="34" charset="-120"/>
              </a:rPr>
              <a:t>Electric motors</a:t>
            </a:r>
            <a:endParaRPr lang="en-US" sz="1650" dirty="0"/>
          </a:p>
        </p:txBody>
      </p:sp>
      <p:sp>
        <p:nvSpPr>
          <p:cNvPr id="11" name="Text 7"/>
          <p:cNvSpPr/>
          <p:nvPr/>
        </p:nvSpPr>
        <p:spPr>
          <a:xfrm>
            <a:off x="1280160" y="1170432"/>
            <a:ext cx="6309360" cy="548640"/>
          </a:xfrm>
          <a:prstGeom prst="rect">
            <a:avLst/>
          </a:prstGeom>
          <a:noFill/>
          <a:ln/>
        </p:spPr>
        <p:txBody>
          <a:bodyPr wrap="square" rtlCol="0" anchor="ctr"/>
          <a:lstStyle/>
          <a:p>
            <a:pPr indent="0" marL="0">
              <a:lnSpc>
                <a:spcPts val="1600"/>
              </a:lnSpc>
              <a:buNone/>
            </a:pPr>
            <a:r>
              <a:rPr lang="en-US" sz="1250" dirty="0">
                <a:solidFill>
                  <a:srgbClr val="5B6B7C"/>
                </a:solidFill>
                <a:latin typeface="Calibri" pitchFamily="34" charset="0"/>
                <a:ea typeface="Calibri" pitchFamily="34" charset="-122"/>
                <a:cs typeface="Calibri" pitchFamily="34" charset="-120"/>
              </a:rPr>
              <a:t>Zero direct emissions and lower running costs compared with petrol or diesel engines.</a:t>
            </a:r>
            <a:endParaRPr lang="en-US" sz="1250" dirty="0"/>
          </a:p>
        </p:txBody>
      </p:sp>
      <p:sp>
        <p:nvSpPr>
          <p:cNvPr id="12" name="Shape 8"/>
          <p:cNvSpPr/>
          <p:nvPr/>
        </p:nvSpPr>
        <p:spPr>
          <a:xfrm>
            <a:off x="548640" y="2057400"/>
            <a:ext cx="548640" cy="548640"/>
          </a:xfrm>
          <a:prstGeom prst="ellipse">
            <a:avLst/>
          </a:prstGeom>
          <a:solidFill>
            <a:srgbClr val="0F172A"/>
          </a:solidFill>
          <a:ln/>
        </p:spPr>
      </p:sp>
      <p:pic>
        <p:nvPicPr>
          <p:cNvPr id="13" name="Image 2" descr="/home/claude/pptx_work/icon_chip_00E5FF.png">    </p:cNvPr>
          <p:cNvPicPr>
            <a:picLocks noChangeAspect="1"/>
          </p:cNvPicPr>
          <p:nvPr/>
        </p:nvPicPr>
        <p:blipFill>
          <a:blip r:embed="rId3"/>
          <a:stretch>
            <a:fillRect/>
          </a:stretch>
        </p:blipFill>
        <p:spPr>
          <a:xfrm>
            <a:off x="676656" y="2185416"/>
            <a:ext cx="292608" cy="292608"/>
          </a:xfrm>
          <a:prstGeom prst="rect">
            <a:avLst/>
          </a:prstGeom>
        </p:spPr>
      </p:pic>
      <p:sp>
        <p:nvSpPr>
          <p:cNvPr id="14" name="Text 9"/>
          <p:cNvSpPr/>
          <p:nvPr/>
        </p:nvSpPr>
        <p:spPr>
          <a:xfrm>
            <a:off x="1280160" y="2039112"/>
            <a:ext cx="6035040" cy="320040"/>
          </a:xfrm>
          <a:prstGeom prst="rect">
            <a:avLst/>
          </a:prstGeom>
          <a:noFill/>
          <a:ln/>
        </p:spPr>
        <p:txBody>
          <a:bodyPr wrap="square" rtlCol="0" anchor="ctr"/>
          <a:lstStyle/>
          <a:p>
            <a:pPr indent="0" marL="0">
              <a:buNone/>
            </a:pPr>
            <a:r>
              <a:rPr lang="en-US" sz="1650" b="1" dirty="0">
                <a:solidFill>
                  <a:srgbClr val="13202E"/>
                </a:solidFill>
                <a:latin typeface="Calibri" pitchFamily="34" charset="0"/>
                <a:ea typeface="Calibri" pitchFamily="34" charset="-122"/>
                <a:cs typeface="Calibri" pitchFamily="34" charset="-120"/>
              </a:rPr>
              <a:t>Autopilot systems</a:t>
            </a:r>
            <a:endParaRPr lang="en-US" sz="1650" dirty="0"/>
          </a:p>
        </p:txBody>
      </p:sp>
      <p:sp>
        <p:nvSpPr>
          <p:cNvPr id="15" name="Text 10"/>
          <p:cNvSpPr/>
          <p:nvPr/>
        </p:nvSpPr>
        <p:spPr>
          <a:xfrm>
            <a:off x="1280160" y="2404872"/>
            <a:ext cx="6309360" cy="548640"/>
          </a:xfrm>
          <a:prstGeom prst="rect">
            <a:avLst/>
          </a:prstGeom>
          <a:noFill/>
          <a:ln/>
        </p:spPr>
        <p:txBody>
          <a:bodyPr wrap="square" rtlCol="0" anchor="ctr"/>
          <a:lstStyle/>
          <a:p>
            <a:pPr indent="0" marL="0">
              <a:lnSpc>
                <a:spcPts val="1600"/>
              </a:lnSpc>
              <a:buNone/>
            </a:pPr>
            <a:r>
              <a:rPr lang="en-US" sz="1250" dirty="0">
                <a:solidFill>
                  <a:srgbClr val="5B6B7C"/>
                </a:solidFill>
                <a:latin typeface="Calibri" pitchFamily="34" charset="0"/>
                <a:ea typeface="Calibri" pitchFamily="34" charset="-122"/>
                <a:cs typeface="Calibri" pitchFamily="34" charset="-120"/>
              </a:rPr>
              <a:t>Cameras and sensors allow cars to steer, brake, and park with minimal driver input.</a:t>
            </a:r>
            <a:endParaRPr lang="en-US" sz="1250" dirty="0"/>
          </a:p>
        </p:txBody>
      </p:sp>
      <p:sp>
        <p:nvSpPr>
          <p:cNvPr id="16" name="Shape 11"/>
          <p:cNvSpPr/>
          <p:nvPr/>
        </p:nvSpPr>
        <p:spPr>
          <a:xfrm>
            <a:off x="548640" y="3291840"/>
            <a:ext cx="548640" cy="548640"/>
          </a:xfrm>
          <a:prstGeom prst="ellipse">
            <a:avLst/>
          </a:prstGeom>
          <a:solidFill>
            <a:srgbClr val="0F172A"/>
          </a:solidFill>
          <a:ln/>
        </p:spPr>
      </p:sp>
      <p:pic>
        <p:nvPicPr>
          <p:cNvPr id="17" name="Image 3" descr="/home/claude/pptx_work/icon_shield_00E5FF.png">    </p:cNvPr>
          <p:cNvPicPr>
            <a:picLocks noChangeAspect="1"/>
          </p:cNvPicPr>
          <p:nvPr/>
        </p:nvPicPr>
        <p:blipFill>
          <a:blip r:embed="rId4"/>
          <a:stretch>
            <a:fillRect/>
          </a:stretch>
        </p:blipFill>
        <p:spPr>
          <a:xfrm>
            <a:off x="676656" y="3419856"/>
            <a:ext cx="292608" cy="292608"/>
          </a:xfrm>
          <a:prstGeom prst="rect">
            <a:avLst/>
          </a:prstGeom>
        </p:spPr>
      </p:pic>
      <p:sp>
        <p:nvSpPr>
          <p:cNvPr id="18" name="Text 12"/>
          <p:cNvSpPr/>
          <p:nvPr/>
        </p:nvSpPr>
        <p:spPr>
          <a:xfrm>
            <a:off x="1280160" y="3273552"/>
            <a:ext cx="6035040" cy="320040"/>
          </a:xfrm>
          <a:prstGeom prst="rect">
            <a:avLst/>
          </a:prstGeom>
          <a:noFill/>
          <a:ln/>
        </p:spPr>
        <p:txBody>
          <a:bodyPr wrap="square" rtlCol="0" anchor="ctr"/>
          <a:lstStyle/>
          <a:p>
            <a:pPr indent="0" marL="0">
              <a:buNone/>
            </a:pPr>
            <a:r>
              <a:rPr lang="en-US" sz="1650" b="1" dirty="0">
                <a:solidFill>
                  <a:srgbClr val="13202E"/>
                </a:solidFill>
                <a:latin typeface="Calibri" pitchFamily="34" charset="0"/>
                <a:ea typeface="Calibri" pitchFamily="34" charset="-122"/>
                <a:cs typeface="Calibri" pitchFamily="34" charset="-120"/>
              </a:rPr>
              <a:t>Advanced safety</a:t>
            </a:r>
            <a:endParaRPr lang="en-US" sz="1650" dirty="0"/>
          </a:p>
        </p:txBody>
      </p:sp>
      <p:sp>
        <p:nvSpPr>
          <p:cNvPr id="19" name="Text 13"/>
          <p:cNvSpPr/>
          <p:nvPr/>
        </p:nvSpPr>
        <p:spPr>
          <a:xfrm>
            <a:off x="1280160" y="3639312"/>
            <a:ext cx="6309360" cy="548640"/>
          </a:xfrm>
          <a:prstGeom prst="rect">
            <a:avLst/>
          </a:prstGeom>
          <a:noFill/>
          <a:ln/>
        </p:spPr>
        <p:txBody>
          <a:bodyPr wrap="square" rtlCol="0" anchor="ctr"/>
          <a:lstStyle/>
          <a:p>
            <a:pPr indent="0" marL="0">
              <a:lnSpc>
                <a:spcPts val="1600"/>
              </a:lnSpc>
              <a:buNone/>
            </a:pPr>
            <a:r>
              <a:rPr lang="en-US" sz="1250" dirty="0">
                <a:solidFill>
                  <a:srgbClr val="5B6B7C"/>
                </a:solidFill>
                <a:latin typeface="Calibri" pitchFamily="34" charset="0"/>
                <a:ea typeface="Calibri" pitchFamily="34" charset="-122"/>
                <a:cs typeface="Calibri" pitchFamily="34" charset="-120"/>
              </a:rPr>
              <a:t>AI-based systems detect obstacles and pedestrians, reducing the risk of accidents.</a:t>
            </a:r>
            <a:endParaRPr lang="en-US" sz="1250" dirty="0"/>
          </a:p>
        </p:txBody>
      </p:sp>
      <p:sp>
        <p:nvSpPr>
          <p:cNvPr id="20" name="Shape 14"/>
          <p:cNvSpPr/>
          <p:nvPr/>
        </p:nvSpPr>
        <p:spPr>
          <a:xfrm>
            <a:off x="548640" y="4663440"/>
            <a:ext cx="7040880" cy="1417320"/>
          </a:xfrm>
          <a:prstGeom prst="roundRect">
            <a:avLst>
              <a:gd name="adj" fmla="val 6452"/>
            </a:avLst>
          </a:prstGeom>
          <a:solidFill>
            <a:srgbClr val="1E3A5F"/>
          </a:solidFill>
          <a:ln/>
        </p:spPr>
      </p:sp>
      <p:sp>
        <p:nvSpPr>
          <p:cNvPr id="21" name="Text 15"/>
          <p:cNvSpPr/>
          <p:nvPr/>
        </p:nvSpPr>
        <p:spPr>
          <a:xfrm>
            <a:off x="822960" y="4892040"/>
            <a:ext cx="6492240" cy="1005840"/>
          </a:xfrm>
          <a:prstGeom prst="rect">
            <a:avLst/>
          </a:prstGeom>
          <a:noFill/>
          <a:ln/>
        </p:spPr>
        <p:txBody>
          <a:bodyPr wrap="square" rtlCol="0" anchor="ctr"/>
          <a:lstStyle/>
          <a:p>
            <a:pPr indent="0" marL="0">
              <a:lnSpc>
                <a:spcPts val="1800"/>
              </a:lnSpc>
              <a:buNone/>
            </a:pPr>
            <a:r>
              <a:rPr lang="en-US" sz="1350" i="1" dirty="0">
                <a:solidFill>
                  <a:srgbClr val="FFFFFF"/>
                </a:solidFill>
                <a:latin typeface="Calibri" pitchFamily="34" charset="0"/>
                <a:ea typeface="Calibri" pitchFamily="34" charset="-122"/>
                <a:cs typeface="Calibri" pitchFamily="34" charset="-120"/>
              </a:rPr>
              <a:t>By 2030, electric vehicles are projected to make up nearly a third of new car sales worldwide.</a:t>
            </a:r>
            <a:endParaRPr lang="en-US" sz="1350" dirty="0"/>
          </a:p>
        </p:txBody>
      </p:sp>
      <p:sp>
        <p:nvSpPr>
          <p:cNvPr id="22" name="Text 16"/>
          <p:cNvSpPr/>
          <p:nvPr/>
        </p:nvSpPr>
        <p:spPr>
          <a:xfrm>
            <a:off x="457200" y="6473952"/>
            <a:ext cx="3657600" cy="274320"/>
          </a:xfrm>
          <a:prstGeom prst="rect">
            <a:avLst/>
          </a:prstGeom>
          <a:noFill/>
          <a:ln/>
        </p:spPr>
        <p:txBody>
          <a:bodyPr wrap="square" rtlCol="0" anchor="ctr"/>
          <a:lstStyle/>
          <a:p>
            <a:pPr indent="0" marL="0">
              <a:buNone/>
            </a:pPr>
            <a:r>
              <a:rPr lang="en-US" sz="1000" spc="200" kern="0" dirty="0">
                <a:solidFill>
                  <a:srgbClr val="5B6B7C"/>
                </a:solidFill>
                <a:latin typeface="Calibri" pitchFamily="34" charset="0"/>
                <a:ea typeface="Calibri" pitchFamily="34" charset="-122"/>
                <a:cs typeface="Calibri" pitchFamily="34" charset="-120"/>
              </a:rPr>
              <a:t>GADGETS &amp; TECHNOLOGY</a:t>
            </a:r>
            <a:endParaRPr lang="en-US" sz="1000" dirty="0"/>
          </a:p>
        </p:txBody>
      </p:sp>
      <p:sp>
        <p:nvSpPr>
          <p:cNvPr id="23" name="Text 17"/>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A9B7C6"/>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6473952"/>
            <a:ext cx="3657600" cy="274320"/>
          </a:xfrm>
          <a:prstGeom prst="rect">
            <a:avLst/>
          </a:prstGeom>
          <a:noFill/>
          <a:ln/>
        </p:spPr>
        <p:txBody>
          <a:bodyPr wrap="square" rtlCol="0" anchor="ctr"/>
          <a:lstStyle/>
          <a:p>
            <a:pPr indent="0" marL="0">
              <a:buNone/>
            </a:pPr>
            <a:r>
              <a:rPr lang="en-US" sz="1000" spc="200" kern="0" dirty="0">
                <a:solidFill>
                  <a:srgbClr val="A9B7C6"/>
                </a:solidFill>
                <a:latin typeface="Calibri" pitchFamily="34" charset="0"/>
                <a:ea typeface="Calibri" pitchFamily="34" charset="-122"/>
                <a:cs typeface="Calibri" pitchFamily="34" charset="-120"/>
              </a:rPr>
              <a:t>GADGETS &amp; TECHNOLOGY</a:t>
            </a:r>
            <a:endParaRPr lang="en-US" sz="1000" dirty="0"/>
          </a:p>
        </p:txBody>
      </p:sp>
      <p:sp>
        <p:nvSpPr>
          <p:cNvPr id="3" name="Text 1"/>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C"/>
                </a:solidFill>
                <a:latin typeface="Calibri" pitchFamily="34" charset="0"/>
                <a:ea typeface="Calibri" pitchFamily="34" charset="-122"/>
                <a:cs typeface="Calibri" pitchFamily="34" charset="-120"/>
              </a:rPr>
              <a:t>08</a:t>
            </a:r>
            <a:endParaRPr lang="en-US" sz="1000" dirty="0"/>
          </a:p>
        </p:txBody>
      </p:sp>
      <p:sp>
        <p:nvSpPr>
          <p:cNvPr id="4" name="Text 2"/>
          <p:cNvSpPr/>
          <p:nvPr/>
        </p:nvSpPr>
        <p:spPr>
          <a:xfrm>
            <a:off x="548640" y="411480"/>
            <a:ext cx="914400" cy="365760"/>
          </a:xfrm>
          <a:prstGeom prst="rect">
            <a:avLst/>
          </a:prstGeom>
          <a:noFill/>
          <a:ln/>
        </p:spPr>
        <p:txBody>
          <a:bodyPr wrap="square" rtlCol="0" anchor="ctr"/>
          <a:lstStyle/>
          <a:p>
            <a:pPr indent="0" marL="0">
              <a:buNone/>
            </a:pPr>
            <a:r>
              <a:rPr lang="en-US" sz="1600" b="1" dirty="0">
                <a:solidFill>
                  <a:srgbClr val="00E5FF"/>
                </a:solidFill>
                <a:latin typeface="Cambria" pitchFamily="34" charset="0"/>
                <a:ea typeface="Cambria" pitchFamily="34" charset="-122"/>
                <a:cs typeface="Cambria" pitchFamily="34" charset="-120"/>
              </a:rPr>
              <a:t>06</a:t>
            </a:r>
            <a:endParaRPr lang="en-US" sz="1600" dirty="0"/>
          </a:p>
        </p:txBody>
      </p:sp>
      <p:sp>
        <p:nvSpPr>
          <p:cNvPr id="5" name="Text 3"/>
          <p:cNvSpPr/>
          <p:nvPr/>
        </p:nvSpPr>
        <p:spPr>
          <a:xfrm>
            <a:off x="548640" y="731520"/>
            <a:ext cx="8229600" cy="5486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Virtual &amp; Augmented Reality</a:t>
            </a:r>
            <a:endParaRPr lang="en-US" sz="3000" dirty="0"/>
          </a:p>
        </p:txBody>
      </p:sp>
      <p:sp>
        <p:nvSpPr>
          <p:cNvPr id="6" name="Text 4"/>
          <p:cNvSpPr/>
          <p:nvPr/>
        </p:nvSpPr>
        <p:spPr>
          <a:xfrm>
            <a:off x="548640" y="1207008"/>
            <a:ext cx="7315200" cy="365760"/>
          </a:xfrm>
          <a:prstGeom prst="rect">
            <a:avLst/>
          </a:prstGeom>
          <a:noFill/>
          <a:ln/>
        </p:spPr>
        <p:txBody>
          <a:bodyPr wrap="square" rtlCol="0" anchor="ctr"/>
          <a:lstStyle/>
          <a:p>
            <a:pPr indent="0" marL="0">
              <a:buNone/>
            </a:pPr>
            <a:r>
              <a:rPr lang="en-US" sz="1500" i="1" dirty="0">
                <a:solidFill>
                  <a:srgbClr val="A9B7C6"/>
                </a:solidFill>
                <a:latin typeface="Calibri" pitchFamily="34" charset="0"/>
                <a:ea typeface="Calibri" pitchFamily="34" charset="-122"/>
                <a:cs typeface="Calibri" pitchFamily="34" charset="-120"/>
              </a:rPr>
              <a:t>Blending the digital and physical worlds</a:t>
            </a:r>
            <a:endParaRPr lang="en-US" sz="1500" dirty="0"/>
          </a:p>
        </p:txBody>
      </p:sp>
      <p:sp>
        <p:nvSpPr>
          <p:cNvPr id="7" name="Shape 5"/>
          <p:cNvSpPr/>
          <p:nvPr/>
        </p:nvSpPr>
        <p:spPr>
          <a:xfrm>
            <a:off x="640080" y="2011680"/>
            <a:ext cx="1463040" cy="1463040"/>
          </a:xfrm>
          <a:prstGeom prst="ellipse">
            <a:avLst/>
          </a:prstGeom>
          <a:solidFill>
            <a:srgbClr val="00E5FF"/>
          </a:solidFill>
          <a:ln/>
        </p:spPr>
      </p:sp>
      <p:pic>
        <p:nvPicPr>
          <p:cNvPr id="8" name="Image 0" descr="/home/claude/pptx_work/icon_vr_0F172A.png">    </p:cNvPr>
          <p:cNvPicPr>
            <a:picLocks noChangeAspect="1"/>
          </p:cNvPicPr>
          <p:nvPr/>
        </p:nvPicPr>
        <p:blipFill>
          <a:blip r:embed="rId1"/>
          <a:stretch>
            <a:fillRect/>
          </a:stretch>
        </p:blipFill>
        <p:spPr>
          <a:xfrm>
            <a:off x="969264" y="2340864"/>
            <a:ext cx="804672" cy="804672"/>
          </a:xfrm>
          <a:prstGeom prst="rect">
            <a:avLst/>
          </a:prstGeom>
        </p:spPr>
      </p:pic>
      <p:sp>
        <p:nvSpPr>
          <p:cNvPr id="9" name="Text 6"/>
          <p:cNvSpPr/>
          <p:nvPr/>
        </p:nvSpPr>
        <p:spPr>
          <a:xfrm>
            <a:off x="548640" y="3749040"/>
            <a:ext cx="3017520" cy="1737360"/>
          </a:xfrm>
          <a:prstGeom prst="rect">
            <a:avLst/>
          </a:prstGeom>
          <a:noFill/>
          <a:ln/>
        </p:spPr>
        <p:txBody>
          <a:bodyPr wrap="square" rtlCol="0" anchor="ctr"/>
          <a:lstStyle/>
          <a:p>
            <a:pPr indent="0" marL="0">
              <a:lnSpc>
                <a:spcPts val="1800"/>
              </a:lnSpc>
              <a:buNone/>
            </a:pPr>
            <a:r>
              <a:rPr lang="en-US" sz="1300" i="1" dirty="0">
                <a:solidFill>
                  <a:srgbClr val="CADCFC"/>
                </a:solidFill>
                <a:latin typeface="Calibri" pitchFamily="34" charset="0"/>
                <a:ea typeface="Calibri" pitchFamily="34" charset="-122"/>
                <a:cs typeface="Calibri" pitchFamily="34" charset="-120"/>
              </a:rPr>
              <a:t>VR headsets create fully digital environments, while AR overlays digital information onto the real world.</a:t>
            </a:r>
            <a:endParaRPr lang="en-US" sz="1300" dirty="0"/>
          </a:p>
        </p:txBody>
      </p:sp>
      <p:sp>
        <p:nvSpPr>
          <p:cNvPr id="10" name="Shape 7"/>
          <p:cNvSpPr/>
          <p:nvPr/>
        </p:nvSpPr>
        <p:spPr>
          <a:xfrm>
            <a:off x="4572000" y="2103120"/>
            <a:ext cx="146304" cy="146304"/>
          </a:xfrm>
          <a:prstGeom prst="ellipse">
            <a:avLst/>
          </a:prstGeom>
          <a:solidFill>
            <a:srgbClr val="00E5FF"/>
          </a:solidFill>
          <a:ln/>
        </p:spPr>
      </p:sp>
      <p:sp>
        <p:nvSpPr>
          <p:cNvPr id="11" name="Text 8"/>
          <p:cNvSpPr/>
          <p:nvPr/>
        </p:nvSpPr>
        <p:spPr>
          <a:xfrm>
            <a:off x="4892040" y="2011680"/>
            <a:ext cx="658368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Gaming &amp; entertainment</a:t>
            </a:r>
            <a:endParaRPr lang="en-US" sz="1600" dirty="0"/>
          </a:p>
        </p:txBody>
      </p:sp>
      <p:sp>
        <p:nvSpPr>
          <p:cNvPr id="12" name="Text 9"/>
          <p:cNvSpPr/>
          <p:nvPr/>
        </p:nvSpPr>
        <p:spPr>
          <a:xfrm>
            <a:off x="4892040" y="2377440"/>
            <a:ext cx="6583680" cy="502920"/>
          </a:xfrm>
          <a:prstGeom prst="rect">
            <a:avLst/>
          </a:prstGeom>
          <a:noFill/>
          <a:ln/>
        </p:spPr>
        <p:txBody>
          <a:bodyPr wrap="square" rtlCol="0" anchor="ctr"/>
          <a:lstStyle/>
          <a:p>
            <a:pPr indent="0" marL="0">
              <a:lnSpc>
                <a:spcPts val="1600"/>
              </a:lnSpc>
              <a:buNone/>
            </a:pPr>
            <a:r>
              <a:rPr lang="en-US" sz="1250" dirty="0">
                <a:solidFill>
                  <a:srgbClr val="DCE6F0"/>
                </a:solidFill>
                <a:latin typeface="Calibri" pitchFamily="34" charset="0"/>
                <a:ea typeface="Calibri" pitchFamily="34" charset="-122"/>
                <a:cs typeface="Calibri" pitchFamily="34" charset="-120"/>
              </a:rPr>
              <a:t>Immersive VR games put players directly inside 3D worlds.</a:t>
            </a:r>
            <a:endParaRPr lang="en-US" sz="1250" dirty="0"/>
          </a:p>
        </p:txBody>
      </p:sp>
      <p:sp>
        <p:nvSpPr>
          <p:cNvPr id="13" name="Shape 10"/>
          <p:cNvSpPr/>
          <p:nvPr/>
        </p:nvSpPr>
        <p:spPr>
          <a:xfrm>
            <a:off x="4572000" y="3154680"/>
            <a:ext cx="146304" cy="146304"/>
          </a:xfrm>
          <a:prstGeom prst="ellipse">
            <a:avLst/>
          </a:prstGeom>
          <a:solidFill>
            <a:srgbClr val="00E5FF"/>
          </a:solidFill>
          <a:ln/>
        </p:spPr>
      </p:sp>
      <p:sp>
        <p:nvSpPr>
          <p:cNvPr id="14" name="Text 11"/>
          <p:cNvSpPr/>
          <p:nvPr/>
        </p:nvSpPr>
        <p:spPr>
          <a:xfrm>
            <a:off x="4892040" y="3063240"/>
            <a:ext cx="658368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Education &amp; training</a:t>
            </a:r>
            <a:endParaRPr lang="en-US" sz="1600" dirty="0"/>
          </a:p>
        </p:txBody>
      </p:sp>
      <p:sp>
        <p:nvSpPr>
          <p:cNvPr id="15" name="Text 12"/>
          <p:cNvSpPr/>
          <p:nvPr/>
        </p:nvSpPr>
        <p:spPr>
          <a:xfrm>
            <a:off x="4892040" y="3429000"/>
            <a:ext cx="6583680" cy="502920"/>
          </a:xfrm>
          <a:prstGeom prst="rect">
            <a:avLst/>
          </a:prstGeom>
          <a:noFill/>
          <a:ln/>
        </p:spPr>
        <p:txBody>
          <a:bodyPr wrap="square" rtlCol="0" anchor="ctr"/>
          <a:lstStyle/>
          <a:p>
            <a:pPr indent="0" marL="0">
              <a:lnSpc>
                <a:spcPts val="1600"/>
              </a:lnSpc>
              <a:buNone/>
            </a:pPr>
            <a:r>
              <a:rPr lang="en-US" sz="1250" dirty="0">
                <a:solidFill>
                  <a:srgbClr val="DCE6F0"/>
                </a:solidFill>
                <a:latin typeface="Calibri" pitchFamily="34" charset="0"/>
                <a:ea typeface="Calibri" pitchFamily="34" charset="-122"/>
                <a:cs typeface="Calibri" pitchFamily="34" charset="-120"/>
              </a:rPr>
              <a:t>Medical students and pilots practise complex skills in realistic simulations.</a:t>
            </a:r>
            <a:endParaRPr lang="en-US" sz="1250" dirty="0"/>
          </a:p>
        </p:txBody>
      </p:sp>
      <p:sp>
        <p:nvSpPr>
          <p:cNvPr id="16" name="Shape 13"/>
          <p:cNvSpPr/>
          <p:nvPr/>
        </p:nvSpPr>
        <p:spPr>
          <a:xfrm>
            <a:off x="4572000" y="4206240"/>
            <a:ext cx="146304" cy="146304"/>
          </a:xfrm>
          <a:prstGeom prst="ellipse">
            <a:avLst/>
          </a:prstGeom>
          <a:solidFill>
            <a:srgbClr val="00E5FF"/>
          </a:solidFill>
          <a:ln/>
        </p:spPr>
      </p:sp>
      <p:sp>
        <p:nvSpPr>
          <p:cNvPr id="17" name="Text 14"/>
          <p:cNvSpPr/>
          <p:nvPr/>
        </p:nvSpPr>
        <p:spPr>
          <a:xfrm>
            <a:off x="4892040" y="4114800"/>
            <a:ext cx="658368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Retail &amp; design</a:t>
            </a:r>
            <a:endParaRPr lang="en-US" sz="1600" dirty="0"/>
          </a:p>
        </p:txBody>
      </p:sp>
      <p:sp>
        <p:nvSpPr>
          <p:cNvPr id="18" name="Text 15"/>
          <p:cNvSpPr/>
          <p:nvPr/>
        </p:nvSpPr>
        <p:spPr>
          <a:xfrm>
            <a:off x="4892040" y="4480560"/>
            <a:ext cx="6583680" cy="502920"/>
          </a:xfrm>
          <a:prstGeom prst="rect">
            <a:avLst/>
          </a:prstGeom>
          <a:noFill/>
          <a:ln/>
        </p:spPr>
        <p:txBody>
          <a:bodyPr wrap="square" rtlCol="0" anchor="ctr"/>
          <a:lstStyle/>
          <a:p>
            <a:pPr indent="0" marL="0">
              <a:lnSpc>
                <a:spcPts val="1600"/>
              </a:lnSpc>
              <a:buNone/>
            </a:pPr>
            <a:r>
              <a:rPr lang="en-US" sz="1250" dirty="0">
                <a:solidFill>
                  <a:srgbClr val="DCE6F0"/>
                </a:solidFill>
                <a:latin typeface="Calibri" pitchFamily="34" charset="0"/>
                <a:ea typeface="Calibri" pitchFamily="34" charset="-122"/>
                <a:cs typeface="Calibri" pitchFamily="34" charset="-120"/>
              </a:rPr>
              <a:t>AR apps let shoppers preview furniture or clothing before they buy.</a:t>
            </a:r>
            <a:endParaRPr lang="en-US" sz="1250" dirty="0"/>
          </a:p>
        </p:txBody>
      </p:sp>
      <p:sp>
        <p:nvSpPr>
          <p:cNvPr id="19" name="Shape 16"/>
          <p:cNvSpPr/>
          <p:nvPr/>
        </p:nvSpPr>
        <p:spPr>
          <a:xfrm>
            <a:off x="4572000" y="5257800"/>
            <a:ext cx="146304" cy="146304"/>
          </a:xfrm>
          <a:prstGeom prst="ellipse">
            <a:avLst/>
          </a:prstGeom>
          <a:solidFill>
            <a:srgbClr val="00E5FF"/>
          </a:solidFill>
          <a:ln/>
        </p:spPr>
      </p:sp>
      <p:sp>
        <p:nvSpPr>
          <p:cNvPr id="20" name="Text 17"/>
          <p:cNvSpPr/>
          <p:nvPr/>
        </p:nvSpPr>
        <p:spPr>
          <a:xfrm>
            <a:off x="4892040" y="5166360"/>
            <a:ext cx="658368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Remote collaboration</a:t>
            </a:r>
            <a:endParaRPr lang="en-US" sz="1600" dirty="0"/>
          </a:p>
        </p:txBody>
      </p:sp>
      <p:sp>
        <p:nvSpPr>
          <p:cNvPr id="21" name="Text 18"/>
          <p:cNvSpPr/>
          <p:nvPr/>
        </p:nvSpPr>
        <p:spPr>
          <a:xfrm>
            <a:off x="4892040" y="5532120"/>
            <a:ext cx="6583680" cy="502920"/>
          </a:xfrm>
          <a:prstGeom prst="rect">
            <a:avLst/>
          </a:prstGeom>
          <a:noFill/>
          <a:ln/>
        </p:spPr>
        <p:txBody>
          <a:bodyPr wrap="square" rtlCol="0" anchor="ctr"/>
          <a:lstStyle/>
          <a:p>
            <a:pPr indent="0" marL="0">
              <a:lnSpc>
                <a:spcPts val="1600"/>
              </a:lnSpc>
              <a:buNone/>
            </a:pPr>
            <a:r>
              <a:rPr lang="en-US" sz="1250" dirty="0">
                <a:solidFill>
                  <a:srgbClr val="DCE6F0"/>
                </a:solidFill>
                <a:latin typeface="Calibri" pitchFamily="34" charset="0"/>
                <a:ea typeface="Calibri" pitchFamily="34" charset="-122"/>
                <a:cs typeface="Calibri" pitchFamily="34" charset="-120"/>
              </a:rPr>
              <a:t>Mixed-reality meetings let colleagues share a virtual workspace from anywhere.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548640" y="502920"/>
            <a:ext cx="91440" cy="91440"/>
          </a:xfrm>
          <a:prstGeom prst="ellipse">
            <a:avLst/>
          </a:prstGeom>
          <a:solidFill>
            <a:srgbClr val="1E3A5F"/>
          </a:solidFill>
          <a:ln/>
        </p:spPr>
      </p:sp>
      <p:sp>
        <p:nvSpPr>
          <p:cNvPr id="3" name="Shape 1"/>
          <p:cNvSpPr/>
          <p:nvPr/>
        </p:nvSpPr>
        <p:spPr>
          <a:xfrm>
            <a:off x="868680" y="502920"/>
            <a:ext cx="91440" cy="91440"/>
          </a:xfrm>
          <a:prstGeom prst="ellipse">
            <a:avLst/>
          </a:prstGeom>
          <a:solidFill>
            <a:srgbClr val="1E3A5F"/>
          </a:solidFill>
          <a:ln/>
        </p:spPr>
      </p:sp>
      <p:sp>
        <p:nvSpPr>
          <p:cNvPr id="4" name="Shape 2"/>
          <p:cNvSpPr/>
          <p:nvPr/>
        </p:nvSpPr>
        <p:spPr>
          <a:xfrm>
            <a:off x="1188720" y="502920"/>
            <a:ext cx="91440" cy="91440"/>
          </a:xfrm>
          <a:prstGeom prst="ellipse">
            <a:avLst/>
          </a:prstGeom>
          <a:solidFill>
            <a:srgbClr val="1E3A5F"/>
          </a:solidFill>
          <a:ln/>
        </p:spPr>
      </p:sp>
      <p:sp>
        <p:nvSpPr>
          <p:cNvPr id="5" name="Shape 3"/>
          <p:cNvSpPr/>
          <p:nvPr/>
        </p:nvSpPr>
        <p:spPr>
          <a:xfrm>
            <a:off x="1508760" y="502920"/>
            <a:ext cx="91440" cy="91440"/>
          </a:xfrm>
          <a:prstGeom prst="ellipse">
            <a:avLst/>
          </a:prstGeom>
          <a:solidFill>
            <a:srgbClr val="1E3A5F"/>
          </a:solidFill>
          <a:ln/>
        </p:spPr>
      </p:sp>
      <p:sp>
        <p:nvSpPr>
          <p:cNvPr id="6" name="Shape 4"/>
          <p:cNvSpPr/>
          <p:nvPr/>
        </p:nvSpPr>
        <p:spPr>
          <a:xfrm>
            <a:off x="1828800" y="502920"/>
            <a:ext cx="91440" cy="91440"/>
          </a:xfrm>
          <a:prstGeom prst="ellipse">
            <a:avLst/>
          </a:prstGeom>
          <a:solidFill>
            <a:srgbClr val="1E3A5F"/>
          </a:solidFill>
          <a:ln/>
        </p:spPr>
      </p:sp>
      <p:sp>
        <p:nvSpPr>
          <p:cNvPr id="7" name="Text 5"/>
          <p:cNvSpPr/>
          <p:nvPr/>
        </p:nvSpPr>
        <p:spPr>
          <a:xfrm>
            <a:off x="822960" y="1005840"/>
            <a:ext cx="7315200" cy="548640"/>
          </a:xfrm>
          <a:prstGeom prst="rect">
            <a:avLst/>
          </a:prstGeom>
          <a:noFill/>
          <a:ln/>
        </p:spPr>
        <p:txBody>
          <a:bodyPr wrap="square" rtlCol="0" anchor="ctr"/>
          <a:lstStyle/>
          <a:p>
            <a:pPr indent="0" marL="0">
              <a:buNone/>
            </a:pPr>
            <a:r>
              <a:rPr lang="en-US" sz="3000" b="1" dirty="0">
                <a:solidFill>
                  <a:srgbClr val="00E5FF"/>
                </a:solidFill>
                <a:latin typeface="Cambria" pitchFamily="34" charset="0"/>
                <a:ea typeface="Cambria" pitchFamily="34" charset="-122"/>
                <a:cs typeface="Cambria" pitchFamily="34" charset="-120"/>
              </a:rPr>
              <a:t>Conclusion</a:t>
            </a:r>
            <a:endParaRPr lang="en-US" sz="3000" dirty="0"/>
          </a:p>
        </p:txBody>
      </p:sp>
      <p:sp>
        <p:nvSpPr>
          <p:cNvPr id="8" name="Text 6"/>
          <p:cNvSpPr/>
          <p:nvPr/>
        </p:nvSpPr>
        <p:spPr>
          <a:xfrm>
            <a:off x="822960" y="1554480"/>
            <a:ext cx="9144000" cy="91440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future is already in our hands</a:t>
            </a:r>
            <a:endParaRPr lang="en-US" sz="3800" dirty="0"/>
          </a:p>
        </p:txBody>
      </p:sp>
      <p:sp>
        <p:nvSpPr>
          <p:cNvPr id="9" name="Text 7"/>
          <p:cNvSpPr/>
          <p:nvPr/>
        </p:nvSpPr>
        <p:spPr>
          <a:xfrm>
            <a:off x="822960" y="2606040"/>
            <a:ext cx="8412480" cy="1463040"/>
          </a:xfrm>
          <a:prstGeom prst="rect">
            <a:avLst/>
          </a:prstGeom>
          <a:noFill/>
          <a:ln/>
        </p:spPr>
        <p:txBody>
          <a:bodyPr wrap="square" rtlCol="0" anchor="ctr"/>
          <a:lstStyle/>
          <a:p>
            <a:pPr indent="0" marL="0">
              <a:lnSpc>
                <a:spcPts val="2400"/>
              </a:lnSpc>
              <a:buNone/>
            </a:pPr>
            <a:r>
              <a:rPr lang="en-US" sz="1600" dirty="0">
                <a:solidFill>
                  <a:srgbClr val="CADCFC"/>
                </a:solidFill>
                <a:latin typeface="Calibri" pitchFamily="34" charset="0"/>
                <a:ea typeface="Calibri" pitchFamily="34" charset="-122"/>
                <a:cs typeface="Calibri" pitchFamily="34" charset="-120"/>
              </a:rPr>
              <a:t>From smartphones and wearables to AI assistants and self-driving cars, modern gadgets are not just tools — they are becoming true partners in daily life. As technology keeps evolving, it will continue to make the world more connected, efficient, and exciting.</a:t>
            </a:r>
            <a:endParaRPr lang="en-US" sz="1600" dirty="0"/>
          </a:p>
        </p:txBody>
      </p:sp>
      <p:sp>
        <p:nvSpPr>
          <p:cNvPr id="10" name="Shape 8"/>
          <p:cNvSpPr/>
          <p:nvPr/>
        </p:nvSpPr>
        <p:spPr>
          <a:xfrm>
            <a:off x="822960" y="4480560"/>
            <a:ext cx="594360" cy="594360"/>
          </a:xfrm>
          <a:prstGeom prst="ellipse">
            <a:avLst/>
          </a:prstGeom>
          <a:solidFill>
            <a:srgbClr val="1E3A5F"/>
          </a:solidFill>
          <a:ln/>
        </p:spPr>
      </p:sp>
      <p:pic>
        <p:nvPicPr>
          <p:cNvPr id="11" name="Image 0" descr="/home/claude/pptx_work/icon_mobile_00E5FF.png">    </p:cNvPr>
          <p:cNvPicPr>
            <a:picLocks noChangeAspect="1"/>
          </p:cNvPicPr>
          <p:nvPr/>
        </p:nvPicPr>
        <p:blipFill>
          <a:blip r:embed="rId1"/>
          <a:stretch>
            <a:fillRect/>
          </a:stretch>
        </p:blipFill>
        <p:spPr>
          <a:xfrm>
            <a:off x="960120" y="4617720"/>
            <a:ext cx="320040" cy="320040"/>
          </a:xfrm>
          <a:prstGeom prst="rect">
            <a:avLst/>
          </a:prstGeom>
        </p:spPr>
      </p:pic>
      <p:sp>
        <p:nvSpPr>
          <p:cNvPr id="12" name="Shape 9"/>
          <p:cNvSpPr/>
          <p:nvPr/>
        </p:nvSpPr>
        <p:spPr>
          <a:xfrm>
            <a:off x="2057400" y="4480560"/>
            <a:ext cx="594360" cy="594360"/>
          </a:xfrm>
          <a:prstGeom prst="ellipse">
            <a:avLst/>
          </a:prstGeom>
          <a:solidFill>
            <a:srgbClr val="1E3A5F"/>
          </a:solidFill>
          <a:ln/>
        </p:spPr>
      </p:sp>
      <p:pic>
        <p:nvPicPr>
          <p:cNvPr id="13" name="Image 1" descr="/home/claude/pptx_work/icon_clock_00E5FF.png">    </p:cNvPr>
          <p:cNvPicPr>
            <a:picLocks noChangeAspect="1"/>
          </p:cNvPicPr>
          <p:nvPr/>
        </p:nvPicPr>
        <p:blipFill>
          <a:blip r:embed="rId2"/>
          <a:stretch>
            <a:fillRect/>
          </a:stretch>
        </p:blipFill>
        <p:spPr>
          <a:xfrm>
            <a:off x="2194560" y="4617720"/>
            <a:ext cx="320040" cy="320040"/>
          </a:xfrm>
          <a:prstGeom prst="rect">
            <a:avLst/>
          </a:prstGeom>
        </p:spPr>
      </p:pic>
      <p:sp>
        <p:nvSpPr>
          <p:cNvPr id="14" name="Shape 10"/>
          <p:cNvSpPr/>
          <p:nvPr/>
        </p:nvSpPr>
        <p:spPr>
          <a:xfrm>
            <a:off x="3291840" y="4480560"/>
            <a:ext cx="594360" cy="594360"/>
          </a:xfrm>
          <a:prstGeom prst="ellipse">
            <a:avLst/>
          </a:prstGeom>
          <a:solidFill>
            <a:srgbClr val="1E3A5F"/>
          </a:solidFill>
          <a:ln/>
        </p:spPr>
      </p:sp>
      <p:pic>
        <p:nvPicPr>
          <p:cNvPr id="15" name="Image 2" descr="/home/claude/pptx_work/icon_home_00E5FF.png">    </p:cNvPr>
          <p:cNvPicPr>
            <a:picLocks noChangeAspect="1"/>
          </p:cNvPicPr>
          <p:nvPr/>
        </p:nvPicPr>
        <p:blipFill>
          <a:blip r:embed="rId3"/>
          <a:stretch>
            <a:fillRect/>
          </a:stretch>
        </p:blipFill>
        <p:spPr>
          <a:xfrm>
            <a:off x="3429000" y="4617720"/>
            <a:ext cx="320040" cy="320040"/>
          </a:xfrm>
          <a:prstGeom prst="rect">
            <a:avLst/>
          </a:prstGeom>
        </p:spPr>
      </p:pic>
      <p:sp>
        <p:nvSpPr>
          <p:cNvPr id="16" name="Shape 11"/>
          <p:cNvSpPr/>
          <p:nvPr/>
        </p:nvSpPr>
        <p:spPr>
          <a:xfrm>
            <a:off x="4526280" y="4480560"/>
            <a:ext cx="594360" cy="594360"/>
          </a:xfrm>
          <a:prstGeom prst="ellipse">
            <a:avLst/>
          </a:prstGeom>
          <a:solidFill>
            <a:srgbClr val="1E3A5F"/>
          </a:solidFill>
          <a:ln/>
        </p:spPr>
      </p:sp>
      <p:pic>
        <p:nvPicPr>
          <p:cNvPr id="17" name="Image 3" descr="/home/claude/pptx_work/icon_robot_00E5FF.png">    </p:cNvPr>
          <p:cNvPicPr>
            <a:picLocks noChangeAspect="1"/>
          </p:cNvPicPr>
          <p:nvPr/>
        </p:nvPicPr>
        <p:blipFill>
          <a:blip r:embed="rId4"/>
          <a:stretch>
            <a:fillRect/>
          </a:stretch>
        </p:blipFill>
        <p:spPr>
          <a:xfrm>
            <a:off x="4663440" y="4617720"/>
            <a:ext cx="320040" cy="320040"/>
          </a:xfrm>
          <a:prstGeom prst="rect">
            <a:avLst/>
          </a:prstGeom>
        </p:spPr>
      </p:pic>
      <p:sp>
        <p:nvSpPr>
          <p:cNvPr id="18" name="Shape 12"/>
          <p:cNvSpPr/>
          <p:nvPr/>
        </p:nvSpPr>
        <p:spPr>
          <a:xfrm>
            <a:off x="5760720" y="4480560"/>
            <a:ext cx="594360" cy="594360"/>
          </a:xfrm>
          <a:prstGeom prst="ellipse">
            <a:avLst/>
          </a:prstGeom>
          <a:solidFill>
            <a:srgbClr val="1E3A5F"/>
          </a:solidFill>
          <a:ln/>
        </p:spPr>
      </p:sp>
      <p:pic>
        <p:nvPicPr>
          <p:cNvPr id="19" name="Image 4" descr="/home/claude/pptx_work/icon_car_00E5FF.png">    </p:cNvPr>
          <p:cNvPicPr>
            <a:picLocks noChangeAspect="1"/>
          </p:cNvPicPr>
          <p:nvPr/>
        </p:nvPicPr>
        <p:blipFill>
          <a:blip r:embed="rId5"/>
          <a:stretch>
            <a:fillRect/>
          </a:stretch>
        </p:blipFill>
        <p:spPr>
          <a:xfrm>
            <a:off x="5897880" y="4617720"/>
            <a:ext cx="320040" cy="320040"/>
          </a:xfrm>
          <a:prstGeom prst="rect">
            <a:avLst/>
          </a:prstGeom>
        </p:spPr>
      </p:pic>
      <p:sp>
        <p:nvSpPr>
          <p:cNvPr id="20" name="Shape 13"/>
          <p:cNvSpPr/>
          <p:nvPr/>
        </p:nvSpPr>
        <p:spPr>
          <a:xfrm>
            <a:off x="6995160" y="4480560"/>
            <a:ext cx="594360" cy="594360"/>
          </a:xfrm>
          <a:prstGeom prst="ellipse">
            <a:avLst/>
          </a:prstGeom>
          <a:solidFill>
            <a:srgbClr val="1E3A5F"/>
          </a:solidFill>
          <a:ln/>
        </p:spPr>
      </p:sp>
      <p:pic>
        <p:nvPicPr>
          <p:cNvPr id="21" name="Image 5" descr="/home/claude/pptx_work/icon_vr_00E5FF.png">    </p:cNvPr>
          <p:cNvPicPr>
            <a:picLocks noChangeAspect="1"/>
          </p:cNvPicPr>
          <p:nvPr/>
        </p:nvPicPr>
        <p:blipFill>
          <a:blip r:embed="rId6"/>
          <a:stretch>
            <a:fillRect/>
          </a:stretch>
        </p:blipFill>
        <p:spPr>
          <a:xfrm>
            <a:off x="7132320" y="4617720"/>
            <a:ext cx="320040" cy="320040"/>
          </a:xfrm>
          <a:prstGeom prst="rect">
            <a:avLst/>
          </a:prstGeom>
        </p:spPr>
      </p:pic>
      <p:sp>
        <p:nvSpPr>
          <p:cNvPr id="22" name="Shape 14"/>
          <p:cNvSpPr/>
          <p:nvPr/>
        </p:nvSpPr>
        <p:spPr>
          <a:xfrm>
            <a:off x="822960" y="5532120"/>
            <a:ext cx="5486400" cy="0"/>
          </a:xfrm>
          <a:prstGeom prst="line">
            <a:avLst/>
          </a:prstGeom>
          <a:noFill/>
          <a:ln w="12700">
            <a:solidFill>
              <a:srgbClr val="1E3A5F"/>
            </a:solidFill>
            <a:prstDash val="solid"/>
          </a:ln>
        </p:spPr>
      </p:sp>
      <p:sp>
        <p:nvSpPr>
          <p:cNvPr id="23" name="Text 15"/>
          <p:cNvSpPr/>
          <p:nvPr/>
        </p:nvSpPr>
        <p:spPr>
          <a:xfrm>
            <a:off x="822960" y="5669280"/>
            <a:ext cx="5486400" cy="457200"/>
          </a:xfrm>
          <a:prstGeom prst="rect">
            <a:avLst/>
          </a:prstGeom>
          <a:noFill/>
          <a:ln/>
        </p:spPr>
        <p:txBody>
          <a:bodyPr wrap="square" rtlCol="0" anchor="ctr"/>
          <a:lstStyle/>
          <a:p>
            <a:pPr indent="0" marL="0">
              <a:buNone/>
            </a:pPr>
            <a:r>
              <a:rPr lang="en-US" sz="1800" i="1" dirty="0">
                <a:solidFill>
                  <a:srgbClr val="A9B7C6"/>
                </a:solidFill>
                <a:latin typeface="Calibri" pitchFamily="34" charset="0"/>
                <a:ea typeface="Calibri" pitchFamily="34" charset="-122"/>
                <a:cs typeface="Calibri" pitchFamily="34" charset="-120"/>
              </a:rPr>
              <a:t>Thank you for listening!</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2026-09-16T08:30:49Z</dcterms:created>
  <dcterms:modified xsi:type="dcterms:W3CDTF">2026-09-16T08:30:49Z</dcterms:modified>
</cp:coreProperties>
</file>